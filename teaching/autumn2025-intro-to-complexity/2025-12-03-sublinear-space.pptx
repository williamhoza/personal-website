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00" r:id="rId2"/>
    <p:sldId id="1064" r:id="rId3"/>
    <p:sldId id="410" r:id="rId4"/>
    <p:sldId id="1066" r:id="rId5"/>
    <p:sldId id="1067" r:id="rId6"/>
    <p:sldId id="915" r:id="rId7"/>
    <p:sldId id="742" r:id="rId8"/>
    <p:sldId id="904" r:id="rId9"/>
    <p:sldId id="905" r:id="rId10"/>
    <p:sldId id="916" r:id="rId11"/>
    <p:sldId id="917" r:id="rId12"/>
    <p:sldId id="918" r:id="rId13"/>
    <p:sldId id="908" r:id="rId14"/>
    <p:sldId id="919" r:id="rId15"/>
    <p:sldId id="920" r:id="rId16"/>
    <p:sldId id="1070" r:id="rId17"/>
    <p:sldId id="922" r:id="rId18"/>
    <p:sldId id="1071" r:id="rId19"/>
    <p:sldId id="1072" r:id="rId20"/>
    <p:sldId id="1073" r:id="rId21"/>
    <p:sldId id="1068" r:id="rId22"/>
    <p:sldId id="1069" r:id="rId23"/>
    <p:sldId id="921" r:id="rId24"/>
    <p:sldId id="923" r:id="rId25"/>
    <p:sldId id="924" r:id="rId26"/>
    <p:sldId id="925" r:id="rId27"/>
    <p:sldId id="926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9B"/>
    <a:srgbClr val="FFD1D1"/>
    <a:srgbClr val="FFF2CC"/>
    <a:srgbClr val="4472C4"/>
    <a:srgbClr val="FFCCFF"/>
    <a:srgbClr val="FF99FF"/>
    <a:srgbClr val="8A3500"/>
    <a:srgbClr val="00FFFF"/>
    <a:srgbClr val="444444"/>
    <a:srgbClr val="B195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0166" autoAdjust="0"/>
  </p:normalViewPr>
  <p:slideViewPr>
    <p:cSldViewPr snapToGrid="0">
      <p:cViewPr varScale="1">
        <p:scale>
          <a:sx n="106" d="100"/>
          <a:sy n="106" d="100"/>
        </p:scale>
        <p:origin x="96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C89D9-4143-4CE6-8C54-F02D74289DB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6803F-40F5-437E-BE1A-AAEA2518A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4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0DE4-FF9C-80CF-C5CC-74A127A4B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64B6A-43CC-BC88-2615-C72CE1750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F18CE-EB28-5DD6-B11F-C69C0BB2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DF79-D6C2-44B3-8742-A22E7E2B2DFC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A965-1956-CB40-F7D8-41BA1941E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86D55-6856-8978-D386-5F0DC01AE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5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00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9E84-60CD-2150-A370-2D916ABC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FFB9B-E796-4A75-E099-81EE16B66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DB585-9E6C-6EB7-EF7D-115EDC85F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6C3CF-17B5-4FE7-A6C3-1E55F63BBB29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B97E-968F-0FDD-921C-6846DE86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1786B-4A9A-5DD9-FFE4-54BF3377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844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2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E31E-5737-97AE-B548-C476F399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B9689-C3A0-666A-C71B-F0DE27D3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4547B-E9B5-8BCE-E253-08A353B9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1A7A-1332-4B30-AF4F-8BCB3CC4E7B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6709A-57B6-02BB-4C18-2E008E5E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117F1-3E92-F3D9-78F3-9326FCB1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2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E794-A894-D40F-64BE-8D410705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F2C6-A7E3-B9F1-4014-740D27098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3E3D2-C77F-FBD4-344E-9F8F1EFB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1D8CC-203D-1A00-3272-5C9F9793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C27B-0845-452C-9314-A19F69723BBD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40A68-87AE-D0B8-9C75-9538D0C9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14080-4E51-77B1-DE7C-35B79A84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60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6F28-653C-43CC-0F34-2CE78FEB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06BFB-CED3-31FF-C336-633076F7C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558B5-2476-BE98-66C3-D309FCDD9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69734-910F-007D-4002-F9D3629140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49EA7-3FB0-7A34-DE17-C2F34303A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B5B7C-620E-B71B-6E6B-73950834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BF1A3-5A5F-4792-B78C-6135637B9452}" type="datetime1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80EAE-C2DA-429E-2856-E9A39FCE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E504-838C-DA70-B564-044F0880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9578-BA9A-92B8-A46F-FA8D931FC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3D9A0-FA24-33DC-6CBE-DB1E4A2D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D9451-D3D4-4E42-BABA-51ED05BC4A7B}" type="datetime1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81BF0-0DE8-96DB-7CEC-E1B839CD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BFE14-C8B0-F638-FFB8-3AE6132C4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032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6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7E2C-525A-20B9-5ABD-B1F52212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2536A-191E-4FD3-9217-AC0125948861}" type="datetime1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A35DC-A81D-D970-E468-E6E7B757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3F316-B2B0-A721-09FC-6CF0F365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969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61B20D-9436-4192-BF4B-8FB3BEF178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2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3158-EA36-B587-0F1E-F8F8A4F1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4835D-F4EB-9C46-9D4D-9767BE30B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D17DB-6CBC-E581-B2D4-E4EBC1115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07D0D-F212-A2D4-82A7-5EC7440B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3400-7673-4D56-AFCD-41352542AA5B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36903-15A5-473D-5C6E-162F415B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E457D-CA0C-E56D-EDCA-5301AC1F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9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514E-03CF-9826-EE9B-7ACFB1270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61131C-326F-042B-16D4-A65F9D0F21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A72E3-AD5B-5CD6-4991-51F45174F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87A13-CE50-8513-985C-D2C7D862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DF79-0AD1-4A96-B09E-944AF8ACECDD}" type="datetime1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61B45-13B0-76C7-8BAC-96EBF79D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A6D0D-C224-73DC-0143-0881479E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BEAB7-07EC-1EA5-53F3-8F4275E4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24E0C-DA48-06AA-BA2E-49DDBCA76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8F0FE-25F2-F159-1B9E-3CE051D0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F0D43-1401-4BC0-A39D-A766495ECF36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5A323-6743-3F78-3350-91557D22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EFC33-9C19-3F3B-CC37-11CD52F7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6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1E061-43B9-715E-10A1-43924C056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54F26-8700-5286-046A-F18D1D71C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5B5C2-B43D-EDEA-E6AC-0E7A5EFA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214FD-A691-403F-8A1F-9E3EDE8FE8F0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AD3D-3C48-B69E-8B2E-A73197BE5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4E5E-E577-449C-B1E5-FED04977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1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C8D14-FE37-35F9-6FC5-1BBE58023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FB97-4B6A-F842-15DB-F6915CC92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6798-148C-2E16-43F6-3E69880A9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0B097-4004-4718-A94A-9D119BA8F2F4}" type="datetime1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B81AC-BEE3-A42E-6ACF-BDFF7D14A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3639E-8602-86E4-86A5-EF2B46162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1B20D-9436-4192-BF4B-8FB3BEF17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2" Type="http://schemas.openxmlformats.org/officeDocument/2006/relationships/image" Target="../media/image18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7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10.png"/><Relationship Id="rId9" Type="http://schemas.openxmlformats.org/officeDocument/2006/relationships/image" Target="../media/image17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image" Target="../media/image190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0.png"/><Relationship Id="rId2" Type="http://schemas.openxmlformats.org/officeDocument/2006/relationships/image" Target="../media/image31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0.png"/><Relationship Id="rId5" Type="http://schemas.openxmlformats.org/officeDocument/2006/relationships/image" Target="../media/image150.png"/><Relationship Id="rId4" Type="http://schemas.openxmlformats.org/officeDocument/2006/relationships/image" Target="../media/image33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7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3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image" Target="../media/image5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374BE-0883-4AF8-5BC1-5A60CADC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2E8B08-1E80-5F58-574F-304F8486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9908"/>
            <a:ext cx="5026269" cy="6110936"/>
          </a:xfrm>
        </p:spPr>
        <p:txBody>
          <a:bodyPr>
            <a:normAutofit/>
          </a:bodyPr>
          <a:lstStyle/>
          <a:p>
            <a:pPr marL="0" indent="0"/>
            <a:r>
              <a:rPr lang="en-US" sz="4400" dirty="0"/>
              <a:t>CMSC 28100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Introduction to </a:t>
            </a:r>
            <a:r>
              <a:rPr lang="en-US" sz="4400" b="1" dirty="0">
                <a:solidFill>
                  <a:schemeClr val="accent1"/>
                </a:solidFill>
              </a:rPr>
              <a:t>Complexity Theory</a:t>
            </a:r>
            <a:br>
              <a:rPr lang="en-US" sz="4400" dirty="0"/>
            </a:br>
            <a:br>
              <a:rPr lang="en-US" sz="4400" dirty="0"/>
            </a:br>
            <a:r>
              <a:rPr lang="en-US" sz="2800" dirty="0"/>
              <a:t>Autumn 2025</a:t>
            </a:r>
            <a:br>
              <a:rPr lang="en-US" sz="2800" dirty="0"/>
            </a:br>
            <a:r>
              <a:rPr lang="en-US" sz="2800" dirty="0"/>
              <a:t>Instructor: William Hoza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AC337-0336-D656-BE3A-5F605AD04742}"/>
              </a:ext>
            </a:extLst>
          </p:cNvPr>
          <p:cNvSpPr txBox="1"/>
          <p:nvPr/>
        </p:nvSpPr>
        <p:spPr>
          <a:xfrm>
            <a:off x="6096000" y="1174536"/>
            <a:ext cx="525780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700" dirty="0"/>
              <a:t>⏳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8357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189-67A2-F908-8972-EF42921F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8901"/>
            <a:ext cx="10515600" cy="398019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/>
              <a:t>Which problems</a:t>
            </a:r>
            <a:br>
              <a:rPr lang="en-US" sz="5400" b="1" dirty="0"/>
            </a:br>
            <a:r>
              <a:rPr lang="en-US" sz="5400" b="1" dirty="0"/>
              <a:t>can be solved</a:t>
            </a:r>
            <a:br>
              <a:rPr lang="en-US" sz="5400" b="1" dirty="0"/>
            </a:br>
            <a:r>
              <a:rPr lang="en-US" sz="5400" b="1" dirty="0"/>
              <a:t>through computation?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2E194-1D63-C891-073A-210B682C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2214B39-C350-E3BF-C805-0A4DB7E03269}"/>
              </a:ext>
            </a:extLst>
          </p:cNvPr>
          <p:cNvSpPr/>
          <p:nvPr/>
        </p:nvSpPr>
        <p:spPr>
          <a:xfrm>
            <a:off x="3823855" y="2225242"/>
            <a:ext cx="4664363" cy="324062"/>
          </a:xfrm>
          <a:custGeom>
            <a:avLst/>
            <a:gdLst>
              <a:gd name="connsiteX0" fmla="*/ 0 w 4664363"/>
              <a:gd name="connsiteY0" fmla="*/ 213158 h 324062"/>
              <a:gd name="connsiteX1" fmla="*/ 471054 w 4664363"/>
              <a:gd name="connsiteY1" fmla="*/ 722 h 324062"/>
              <a:gd name="connsiteX2" fmla="*/ 1080654 w 4664363"/>
              <a:gd name="connsiteY2" fmla="*/ 277813 h 324062"/>
              <a:gd name="connsiteX3" fmla="*/ 1653309 w 4664363"/>
              <a:gd name="connsiteY3" fmla="*/ 46903 h 324062"/>
              <a:gd name="connsiteX4" fmla="*/ 2198254 w 4664363"/>
              <a:gd name="connsiteY4" fmla="*/ 287049 h 324062"/>
              <a:gd name="connsiteX5" fmla="*/ 2761672 w 4664363"/>
              <a:gd name="connsiteY5" fmla="*/ 93085 h 324062"/>
              <a:gd name="connsiteX6" fmla="*/ 3362036 w 4664363"/>
              <a:gd name="connsiteY6" fmla="*/ 323994 h 324062"/>
              <a:gd name="connsiteX7" fmla="*/ 3962400 w 4664363"/>
              <a:gd name="connsiteY7" fmla="*/ 65376 h 324062"/>
              <a:gd name="connsiteX8" fmla="*/ 4664363 w 4664363"/>
              <a:gd name="connsiteY8" fmla="*/ 268576 h 324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4363" h="324062">
                <a:moveTo>
                  <a:pt x="0" y="213158"/>
                </a:moveTo>
                <a:cubicBezTo>
                  <a:pt x="145472" y="101552"/>
                  <a:pt x="290945" y="-10054"/>
                  <a:pt x="471054" y="722"/>
                </a:cubicBezTo>
                <a:cubicBezTo>
                  <a:pt x="651163" y="11498"/>
                  <a:pt x="883612" y="270116"/>
                  <a:pt x="1080654" y="277813"/>
                </a:cubicBezTo>
                <a:cubicBezTo>
                  <a:pt x="1277697" y="285510"/>
                  <a:pt x="1467042" y="45364"/>
                  <a:pt x="1653309" y="46903"/>
                </a:cubicBezTo>
                <a:cubicBezTo>
                  <a:pt x="1839576" y="48442"/>
                  <a:pt x="2013527" y="279352"/>
                  <a:pt x="2198254" y="287049"/>
                </a:cubicBezTo>
                <a:cubicBezTo>
                  <a:pt x="2382981" y="294746"/>
                  <a:pt x="2567708" y="86927"/>
                  <a:pt x="2761672" y="93085"/>
                </a:cubicBezTo>
                <a:cubicBezTo>
                  <a:pt x="2955636" y="99242"/>
                  <a:pt x="3161915" y="328612"/>
                  <a:pt x="3362036" y="323994"/>
                </a:cubicBezTo>
                <a:cubicBezTo>
                  <a:pt x="3562157" y="319376"/>
                  <a:pt x="3745346" y="74612"/>
                  <a:pt x="3962400" y="65376"/>
                </a:cubicBezTo>
                <a:cubicBezTo>
                  <a:pt x="4179454" y="56140"/>
                  <a:pt x="4421908" y="162358"/>
                  <a:pt x="4664363" y="268576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ABD6F24-E6EE-C5BF-A171-81FEAC614F82}"/>
              </a:ext>
            </a:extLst>
          </p:cNvPr>
          <p:cNvSpPr/>
          <p:nvPr/>
        </p:nvSpPr>
        <p:spPr>
          <a:xfrm>
            <a:off x="4234872" y="3498830"/>
            <a:ext cx="3666837" cy="323340"/>
          </a:xfrm>
          <a:custGeom>
            <a:avLst/>
            <a:gdLst>
              <a:gd name="connsiteX0" fmla="*/ 0 w 4664363"/>
              <a:gd name="connsiteY0" fmla="*/ 213158 h 324062"/>
              <a:gd name="connsiteX1" fmla="*/ 471054 w 4664363"/>
              <a:gd name="connsiteY1" fmla="*/ 722 h 324062"/>
              <a:gd name="connsiteX2" fmla="*/ 1080654 w 4664363"/>
              <a:gd name="connsiteY2" fmla="*/ 277813 h 324062"/>
              <a:gd name="connsiteX3" fmla="*/ 1653309 w 4664363"/>
              <a:gd name="connsiteY3" fmla="*/ 46903 h 324062"/>
              <a:gd name="connsiteX4" fmla="*/ 2198254 w 4664363"/>
              <a:gd name="connsiteY4" fmla="*/ 287049 h 324062"/>
              <a:gd name="connsiteX5" fmla="*/ 2761672 w 4664363"/>
              <a:gd name="connsiteY5" fmla="*/ 93085 h 324062"/>
              <a:gd name="connsiteX6" fmla="*/ 3362036 w 4664363"/>
              <a:gd name="connsiteY6" fmla="*/ 323994 h 324062"/>
              <a:gd name="connsiteX7" fmla="*/ 3962400 w 4664363"/>
              <a:gd name="connsiteY7" fmla="*/ 65376 h 324062"/>
              <a:gd name="connsiteX8" fmla="*/ 4664363 w 4664363"/>
              <a:gd name="connsiteY8" fmla="*/ 268576 h 324062"/>
              <a:gd name="connsiteX0" fmla="*/ 0 w 4193309"/>
              <a:gd name="connsiteY0" fmla="*/ 0 h 323340"/>
              <a:gd name="connsiteX1" fmla="*/ 609600 w 4193309"/>
              <a:gd name="connsiteY1" fmla="*/ 277091 h 323340"/>
              <a:gd name="connsiteX2" fmla="*/ 1182255 w 4193309"/>
              <a:gd name="connsiteY2" fmla="*/ 46181 h 323340"/>
              <a:gd name="connsiteX3" fmla="*/ 1727200 w 4193309"/>
              <a:gd name="connsiteY3" fmla="*/ 286327 h 323340"/>
              <a:gd name="connsiteX4" fmla="*/ 2290618 w 4193309"/>
              <a:gd name="connsiteY4" fmla="*/ 92363 h 323340"/>
              <a:gd name="connsiteX5" fmla="*/ 2890982 w 4193309"/>
              <a:gd name="connsiteY5" fmla="*/ 323272 h 323340"/>
              <a:gd name="connsiteX6" fmla="*/ 3491346 w 4193309"/>
              <a:gd name="connsiteY6" fmla="*/ 64654 h 323340"/>
              <a:gd name="connsiteX7" fmla="*/ 4193309 w 4193309"/>
              <a:gd name="connsiteY7" fmla="*/ 267854 h 323340"/>
              <a:gd name="connsiteX0" fmla="*/ 0 w 3491346"/>
              <a:gd name="connsiteY0" fmla="*/ 0 h 323340"/>
              <a:gd name="connsiteX1" fmla="*/ 609600 w 3491346"/>
              <a:gd name="connsiteY1" fmla="*/ 277091 h 323340"/>
              <a:gd name="connsiteX2" fmla="*/ 1182255 w 3491346"/>
              <a:gd name="connsiteY2" fmla="*/ 46181 h 323340"/>
              <a:gd name="connsiteX3" fmla="*/ 1727200 w 3491346"/>
              <a:gd name="connsiteY3" fmla="*/ 286327 h 323340"/>
              <a:gd name="connsiteX4" fmla="*/ 2290618 w 3491346"/>
              <a:gd name="connsiteY4" fmla="*/ 92363 h 323340"/>
              <a:gd name="connsiteX5" fmla="*/ 2890982 w 3491346"/>
              <a:gd name="connsiteY5" fmla="*/ 323272 h 323340"/>
              <a:gd name="connsiteX6" fmla="*/ 3491346 w 3491346"/>
              <a:gd name="connsiteY6" fmla="*/ 64654 h 323340"/>
              <a:gd name="connsiteX0" fmla="*/ 0 w 3666837"/>
              <a:gd name="connsiteY0" fmla="*/ 0 h 323340"/>
              <a:gd name="connsiteX1" fmla="*/ 609600 w 3666837"/>
              <a:gd name="connsiteY1" fmla="*/ 277091 h 323340"/>
              <a:gd name="connsiteX2" fmla="*/ 1182255 w 3666837"/>
              <a:gd name="connsiteY2" fmla="*/ 46181 h 323340"/>
              <a:gd name="connsiteX3" fmla="*/ 1727200 w 3666837"/>
              <a:gd name="connsiteY3" fmla="*/ 286327 h 323340"/>
              <a:gd name="connsiteX4" fmla="*/ 2290618 w 3666837"/>
              <a:gd name="connsiteY4" fmla="*/ 92363 h 323340"/>
              <a:gd name="connsiteX5" fmla="*/ 2890982 w 3666837"/>
              <a:gd name="connsiteY5" fmla="*/ 323272 h 323340"/>
              <a:gd name="connsiteX6" fmla="*/ 3666837 w 3666837"/>
              <a:gd name="connsiteY6" fmla="*/ 64654 h 323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6837" h="323340">
                <a:moveTo>
                  <a:pt x="0" y="0"/>
                </a:moveTo>
                <a:cubicBezTo>
                  <a:pt x="180109" y="10776"/>
                  <a:pt x="412558" y="269394"/>
                  <a:pt x="609600" y="277091"/>
                </a:cubicBezTo>
                <a:cubicBezTo>
                  <a:pt x="806643" y="284788"/>
                  <a:pt x="995988" y="44642"/>
                  <a:pt x="1182255" y="46181"/>
                </a:cubicBezTo>
                <a:cubicBezTo>
                  <a:pt x="1368522" y="47720"/>
                  <a:pt x="1542473" y="278630"/>
                  <a:pt x="1727200" y="286327"/>
                </a:cubicBezTo>
                <a:cubicBezTo>
                  <a:pt x="1911927" y="294024"/>
                  <a:pt x="2096654" y="86205"/>
                  <a:pt x="2290618" y="92363"/>
                </a:cubicBezTo>
                <a:cubicBezTo>
                  <a:pt x="2484582" y="98520"/>
                  <a:pt x="2661612" y="327890"/>
                  <a:pt x="2890982" y="323272"/>
                </a:cubicBezTo>
                <a:cubicBezTo>
                  <a:pt x="3120352" y="318654"/>
                  <a:pt x="3449783" y="73890"/>
                  <a:pt x="3666837" y="64654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F0F8CE-F593-6AFE-F5F1-6D71E3E6EBEC}"/>
              </a:ext>
            </a:extLst>
          </p:cNvPr>
          <p:cNvSpPr/>
          <p:nvPr/>
        </p:nvSpPr>
        <p:spPr>
          <a:xfrm>
            <a:off x="3043383" y="4686733"/>
            <a:ext cx="6280727" cy="368408"/>
          </a:xfrm>
          <a:custGeom>
            <a:avLst/>
            <a:gdLst>
              <a:gd name="connsiteX0" fmla="*/ 0 w 4664363"/>
              <a:gd name="connsiteY0" fmla="*/ 213158 h 324062"/>
              <a:gd name="connsiteX1" fmla="*/ 471054 w 4664363"/>
              <a:gd name="connsiteY1" fmla="*/ 722 h 324062"/>
              <a:gd name="connsiteX2" fmla="*/ 1080654 w 4664363"/>
              <a:gd name="connsiteY2" fmla="*/ 277813 h 324062"/>
              <a:gd name="connsiteX3" fmla="*/ 1653309 w 4664363"/>
              <a:gd name="connsiteY3" fmla="*/ 46903 h 324062"/>
              <a:gd name="connsiteX4" fmla="*/ 2198254 w 4664363"/>
              <a:gd name="connsiteY4" fmla="*/ 287049 h 324062"/>
              <a:gd name="connsiteX5" fmla="*/ 2761672 w 4664363"/>
              <a:gd name="connsiteY5" fmla="*/ 93085 h 324062"/>
              <a:gd name="connsiteX6" fmla="*/ 3362036 w 4664363"/>
              <a:gd name="connsiteY6" fmla="*/ 323994 h 324062"/>
              <a:gd name="connsiteX7" fmla="*/ 3962400 w 4664363"/>
              <a:gd name="connsiteY7" fmla="*/ 65376 h 324062"/>
              <a:gd name="connsiteX8" fmla="*/ 4664363 w 4664363"/>
              <a:gd name="connsiteY8" fmla="*/ 268576 h 324062"/>
              <a:gd name="connsiteX0" fmla="*/ 0 w 6308436"/>
              <a:gd name="connsiteY0" fmla="*/ 213158 h 324062"/>
              <a:gd name="connsiteX1" fmla="*/ 471054 w 6308436"/>
              <a:gd name="connsiteY1" fmla="*/ 722 h 324062"/>
              <a:gd name="connsiteX2" fmla="*/ 1080654 w 6308436"/>
              <a:gd name="connsiteY2" fmla="*/ 277813 h 324062"/>
              <a:gd name="connsiteX3" fmla="*/ 1653309 w 6308436"/>
              <a:gd name="connsiteY3" fmla="*/ 46903 h 324062"/>
              <a:gd name="connsiteX4" fmla="*/ 2198254 w 6308436"/>
              <a:gd name="connsiteY4" fmla="*/ 287049 h 324062"/>
              <a:gd name="connsiteX5" fmla="*/ 2761672 w 6308436"/>
              <a:gd name="connsiteY5" fmla="*/ 93085 h 324062"/>
              <a:gd name="connsiteX6" fmla="*/ 3362036 w 6308436"/>
              <a:gd name="connsiteY6" fmla="*/ 323994 h 324062"/>
              <a:gd name="connsiteX7" fmla="*/ 3962400 w 6308436"/>
              <a:gd name="connsiteY7" fmla="*/ 65376 h 324062"/>
              <a:gd name="connsiteX8" fmla="*/ 6308436 w 6308436"/>
              <a:gd name="connsiteY8" fmla="*/ 203921 h 324062"/>
              <a:gd name="connsiteX0" fmla="*/ 0 w 6308436"/>
              <a:gd name="connsiteY0" fmla="*/ 213158 h 324062"/>
              <a:gd name="connsiteX1" fmla="*/ 471054 w 6308436"/>
              <a:gd name="connsiteY1" fmla="*/ 722 h 324062"/>
              <a:gd name="connsiteX2" fmla="*/ 1080654 w 6308436"/>
              <a:gd name="connsiteY2" fmla="*/ 277813 h 324062"/>
              <a:gd name="connsiteX3" fmla="*/ 1653309 w 6308436"/>
              <a:gd name="connsiteY3" fmla="*/ 46903 h 324062"/>
              <a:gd name="connsiteX4" fmla="*/ 2198254 w 6308436"/>
              <a:gd name="connsiteY4" fmla="*/ 287049 h 324062"/>
              <a:gd name="connsiteX5" fmla="*/ 2761672 w 6308436"/>
              <a:gd name="connsiteY5" fmla="*/ 93085 h 324062"/>
              <a:gd name="connsiteX6" fmla="*/ 3362036 w 6308436"/>
              <a:gd name="connsiteY6" fmla="*/ 323994 h 324062"/>
              <a:gd name="connsiteX7" fmla="*/ 3962400 w 6308436"/>
              <a:gd name="connsiteY7" fmla="*/ 65376 h 324062"/>
              <a:gd name="connsiteX8" fmla="*/ 5435598 w 6308436"/>
              <a:gd name="connsiteY8" fmla="*/ 282431 h 324062"/>
              <a:gd name="connsiteX9" fmla="*/ 6308436 w 6308436"/>
              <a:gd name="connsiteY9" fmla="*/ 203921 h 324062"/>
              <a:gd name="connsiteX0" fmla="*/ 0 w 6308436"/>
              <a:gd name="connsiteY0" fmla="*/ 213158 h 372088"/>
              <a:gd name="connsiteX1" fmla="*/ 471054 w 6308436"/>
              <a:gd name="connsiteY1" fmla="*/ 722 h 372088"/>
              <a:gd name="connsiteX2" fmla="*/ 1080654 w 6308436"/>
              <a:gd name="connsiteY2" fmla="*/ 277813 h 372088"/>
              <a:gd name="connsiteX3" fmla="*/ 1653309 w 6308436"/>
              <a:gd name="connsiteY3" fmla="*/ 46903 h 372088"/>
              <a:gd name="connsiteX4" fmla="*/ 2198254 w 6308436"/>
              <a:gd name="connsiteY4" fmla="*/ 287049 h 372088"/>
              <a:gd name="connsiteX5" fmla="*/ 2761672 w 6308436"/>
              <a:gd name="connsiteY5" fmla="*/ 93085 h 372088"/>
              <a:gd name="connsiteX6" fmla="*/ 3362036 w 6308436"/>
              <a:gd name="connsiteY6" fmla="*/ 323994 h 372088"/>
              <a:gd name="connsiteX7" fmla="*/ 3962400 w 6308436"/>
              <a:gd name="connsiteY7" fmla="*/ 65376 h 372088"/>
              <a:gd name="connsiteX8" fmla="*/ 4668980 w 6308436"/>
              <a:gd name="connsiteY8" fmla="*/ 365558 h 372088"/>
              <a:gd name="connsiteX9" fmla="*/ 5435598 w 6308436"/>
              <a:gd name="connsiteY9" fmla="*/ 282431 h 372088"/>
              <a:gd name="connsiteX10" fmla="*/ 6308436 w 6308436"/>
              <a:gd name="connsiteY10" fmla="*/ 203921 h 372088"/>
              <a:gd name="connsiteX0" fmla="*/ 0 w 6308436"/>
              <a:gd name="connsiteY0" fmla="*/ 213158 h 368408"/>
              <a:gd name="connsiteX1" fmla="*/ 471054 w 6308436"/>
              <a:gd name="connsiteY1" fmla="*/ 722 h 368408"/>
              <a:gd name="connsiteX2" fmla="*/ 1080654 w 6308436"/>
              <a:gd name="connsiteY2" fmla="*/ 277813 h 368408"/>
              <a:gd name="connsiteX3" fmla="*/ 1653309 w 6308436"/>
              <a:gd name="connsiteY3" fmla="*/ 46903 h 368408"/>
              <a:gd name="connsiteX4" fmla="*/ 2198254 w 6308436"/>
              <a:gd name="connsiteY4" fmla="*/ 287049 h 368408"/>
              <a:gd name="connsiteX5" fmla="*/ 2761672 w 6308436"/>
              <a:gd name="connsiteY5" fmla="*/ 93085 h 368408"/>
              <a:gd name="connsiteX6" fmla="*/ 3362036 w 6308436"/>
              <a:gd name="connsiteY6" fmla="*/ 323994 h 368408"/>
              <a:gd name="connsiteX7" fmla="*/ 3962400 w 6308436"/>
              <a:gd name="connsiteY7" fmla="*/ 65376 h 368408"/>
              <a:gd name="connsiteX8" fmla="*/ 4668980 w 6308436"/>
              <a:gd name="connsiteY8" fmla="*/ 365558 h 368408"/>
              <a:gd name="connsiteX9" fmla="*/ 5370943 w 6308436"/>
              <a:gd name="connsiteY9" fmla="*/ 88467 h 368408"/>
              <a:gd name="connsiteX10" fmla="*/ 6308436 w 6308436"/>
              <a:gd name="connsiteY10" fmla="*/ 203921 h 368408"/>
              <a:gd name="connsiteX0" fmla="*/ 0 w 6280727"/>
              <a:gd name="connsiteY0" fmla="*/ 213158 h 368408"/>
              <a:gd name="connsiteX1" fmla="*/ 471054 w 6280727"/>
              <a:gd name="connsiteY1" fmla="*/ 722 h 368408"/>
              <a:gd name="connsiteX2" fmla="*/ 1080654 w 6280727"/>
              <a:gd name="connsiteY2" fmla="*/ 277813 h 368408"/>
              <a:gd name="connsiteX3" fmla="*/ 1653309 w 6280727"/>
              <a:gd name="connsiteY3" fmla="*/ 46903 h 368408"/>
              <a:gd name="connsiteX4" fmla="*/ 2198254 w 6280727"/>
              <a:gd name="connsiteY4" fmla="*/ 287049 h 368408"/>
              <a:gd name="connsiteX5" fmla="*/ 2761672 w 6280727"/>
              <a:gd name="connsiteY5" fmla="*/ 93085 h 368408"/>
              <a:gd name="connsiteX6" fmla="*/ 3362036 w 6280727"/>
              <a:gd name="connsiteY6" fmla="*/ 323994 h 368408"/>
              <a:gd name="connsiteX7" fmla="*/ 3962400 w 6280727"/>
              <a:gd name="connsiteY7" fmla="*/ 65376 h 368408"/>
              <a:gd name="connsiteX8" fmla="*/ 4668980 w 6280727"/>
              <a:gd name="connsiteY8" fmla="*/ 365558 h 368408"/>
              <a:gd name="connsiteX9" fmla="*/ 5370943 w 6280727"/>
              <a:gd name="connsiteY9" fmla="*/ 88467 h 368408"/>
              <a:gd name="connsiteX10" fmla="*/ 6280727 w 6280727"/>
              <a:gd name="connsiteY10" fmla="*/ 342467 h 36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80727" h="368408">
                <a:moveTo>
                  <a:pt x="0" y="213158"/>
                </a:moveTo>
                <a:cubicBezTo>
                  <a:pt x="145472" y="101552"/>
                  <a:pt x="290945" y="-10054"/>
                  <a:pt x="471054" y="722"/>
                </a:cubicBezTo>
                <a:cubicBezTo>
                  <a:pt x="651163" y="11498"/>
                  <a:pt x="883612" y="270116"/>
                  <a:pt x="1080654" y="277813"/>
                </a:cubicBezTo>
                <a:cubicBezTo>
                  <a:pt x="1277697" y="285510"/>
                  <a:pt x="1467042" y="45364"/>
                  <a:pt x="1653309" y="46903"/>
                </a:cubicBezTo>
                <a:cubicBezTo>
                  <a:pt x="1839576" y="48442"/>
                  <a:pt x="2013527" y="279352"/>
                  <a:pt x="2198254" y="287049"/>
                </a:cubicBezTo>
                <a:cubicBezTo>
                  <a:pt x="2382981" y="294746"/>
                  <a:pt x="2567708" y="86927"/>
                  <a:pt x="2761672" y="93085"/>
                </a:cubicBezTo>
                <a:cubicBezTo>
                  <a:pt x="2955636" y="99242"/>
                  <a:pt x="3161915" y="328612"/>
                  <a:pt x="3362036" y="323994"/>
                </a:cubicBezTo>
                <a:cubicBezTo>
                  <a:pt x="3562157" y="319376"/>
                  <a:pt x="3718406" y="92315"/>
                  <a:pt x="3962400" y="65376"/>
                </a:cubicBezTo>
                <a:cubicBezTo>
                  <a:pt x="4206394" y="38437"/>
                  <a:pt x="4423447" y="329382"/>
                  <a:pt x="4668980" y="365558"/>
                </a:cubicBezTo>
                <a:cubicBezTo>
                  <a:pt x="4914513" y="401734"/>
                  <a:pt x="5123870" y="81540"/>
                  <a:pt x="5370943" y="88467"/>
                </a:cubicBezTo>
                <a:cubicBezTo>
                  <a:pt x="5761949" y="111558"/>
                  <a:pt x="6164503" y="329382"/>
                  <a:pt x="6280727" y="342467"/>
                </a:cubicBezTo>
              </a:path>
            </a:pathLst>
          </a:cu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96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189-67A2-F908-8972-EF42921F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54" y="1438901"/>
            <a:ext cx="11021291" cy="398019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5400" b="1" dirty="0"/>
              <a:t>Complexity theory:</a:t>
            </a:r>
            <a:br>
              <a:rPr lang="en-US" sz="5400" b="1" dirty="0"/>
            </a:br>
            <a:r>
              <a:rPr lang="en-US" sz="5400" b="1" dirty="0"/>
              <a:t>The study of </a:t>
            </a:r>
            <a:r>
              <a:rPr lang="en-US" sz="5400" b="1" dirty="0">
                <a:solidFill>
                  <a:schemeClr val="accent1"/>
                </a:solidFill>
              </a:rPr>
              <a:t>computational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2E194-1D63-C891-073A-210B682C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6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16AC-B0AB-2CED-8D95-D885B041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arallelogram 39">
            <a:extLst>
              <a:ext uri="{FF2B5EF4-FFF2-40B4-BE49-F238E27FC236}">
                <a16:creationId xmlns:a16="http://schemas.microsoft.com/office/drawing/2014/main" id="{040E7FBD-27CB-A1D1-5F63-0377BA8594ED}"/>
              </a:ext>
            </a:extLst>
          </p:cNvPr>
          <p:cNvSpPr/>
          <p:nvPr/>
        </p:nvSpPr>
        <p:spPr>
          <a:xfrm>
            <a:off x="5337012" y="3461730"/>
            <a:ext cx="965639" cy="411782"/>
          </a:xfrm>
          <a:prstGeom prst="parallelogram">
            <a:avLst>
              <a:gd name="adj" fmla="val 911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6A1D1-8929-D011-F747-9304B415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resources: Fuel for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2D87C-0BF8-8B44-604D-82190E4C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8CC48E-7DFA-E234-0D2D-04C4DB8AD202}"/>
              </a:ext>
            </a:extLst>
          </p:cNvPr>
          <p:cNvGrpSpPr/>
          <p:nvPr/>
        </p:nvGrpSpPr>
        <p:grpSpPr>
          <a:xfrm>
            <a:off x="1650839" y="2101230"/>
            <a:ext cx="1087813" cy="1676062"/>
            <a:chOff x="828572" y="2548905"/>
            <a:chExt cx="1087813" cy="16760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12C276-D784-4F2F-8F5B-AA8F1105266E}"/>
                </a:ext>
              </a:extLst>
            </p:cNvPr>
            <p:cNvSpPr txBox="1"/>
            <p:nvPr/>
          </p:nvSpPr>
          <p:spPr>
            <a:xfrm>
              <a:off x="946886" y="3763302"/>
              <a:ext cx="9694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TIME</a:t>
              </a:r>
              <a:endParaRPr lang="en-US" sz="3200" dirty="0"/>
            </a:p>
          </p:txBody>
        </p:sp>
        <p:pic>
          <p:nvPicPr>
            <p:cNvPr id="6" name="Picture 5" descr="A picture containing clock&#10;&#10;Description automatically generated">
              <a:extLst>
                <a:ext uri="{FF2B5EF4-FFF2-40B4-BE49-F238E27FC236}">
                  <a16:creationId xmlns:a16="http://schemas.microsoft.com/office/drawing/2014/main" id="{F61479F3-4DC0-443C-A3AD-C6FE43B2A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572" y="2548905"/>
              <a:ext cx="1078185" cy="1078185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6C0E68E-AD70-1FDA-7ED2-A5097CB6B0F2}"/>
              </a:ext>
            </a:extLst>
          </p:cNvPr>
          <p:cNvGrpSpPr/>
          <p:nvPr/>
        </p:nvGrpSpPr>
        <p:grpSpPr>
          <a:xfrm>
            <a:off x="5191072" y="2025305"/>
            <a:ext cx="1647061" cy="1869090"/>
            <a:chOff x="2812481" y="2355877"/>
            <a:chExt cx="1647061" cy="18690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02BDD3-01ED-032C-6E99-3BB0757A344D}"/>
                </a:ext>
              </a:extLst>
            </p:cNvPr>
            <p:cNvSpPr txBox="1"/>
            <p:nvPr/>
          </p:nvSpPr>
          <p:spPr>
            <a:xfrm>
              <a:off x="2958421" y="3763302"/>
              <a:ext cx="15011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SPACE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186A557-5E9E-B8F4-9837-431273B7E06B}"/>
                </a:ext>
              </a:extLst>
            </p:cNvPr>
            <p:cNvGrpSpPr/>
            <p:nvPr/>
          </p:nvGrpSpPr>
          <p:grpSpPr>
            <a:xfrm>
              <a:off x="2812481" y="2355877"/>
              <a:ext cx="1206231" cy="1298245"/>
              <a:chOff x="10186591" y="1585225"/>
              <a:chExt cx="1206231" cy="1298245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C13C112-B58A-8697-C41B-773304B9F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2864" y="1655075"/>
                <a:ext cx="83554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1DC9C87-BA7A-1DE2-FB94-206111A4E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88409" y="1585225"/>
                <a:ext cx="0" cy="1460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80918E0-2331-4CCC-C9ED-BB30150CD1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3724" y="1585225"/>
                <a:ext cx="0" cy="14605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DC4DE5-CDD0-CD3D-DF4E-59940112DF19}"/>
                  </a:ext>
                </a:extLst>
              </p:cNvPr>
              <p:cNvGrpSpPr/>
              <p:nvPr/>
            </p:nvGrpSpPr>
            <p:grpSpPr>
              <a:xfrm rot="5400000">
                <a:off x="9740502" y="2282139"/>
                <a:ext cx="1038228" cy="146050"/>
                <a:chOff x="405505" y="2359025"/>
                <a:chExt cx="835545" cy="146050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F82E59D-BADD-5705-4CEB-11986882BC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5505" y="2428875"/>
                  <a:ext cx="83554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triangl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A216E823-04C5-20B7-FEAA-ED3C630240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41050" y="2359025"/>
                  <a:ext cx="0" cy="1460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19375420-89A4-051D-76E6-BCD08B110D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365" y="2359025"/>
                  <a:ext cx="0" cy="14605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107ABCB4-E7FE-B127-D3F5-881B3F2F2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9305" y="1822351"/>
                <a:ext cx="858865" cy="1061119"/>
              </a:xfrm>
              <a:prstGeom prst="rect">
                <a:avLst/>
              </a:prstGeom>
            </p:spPr>
          </p:pic>
          <p:pic>
            <p:nvPicPr>
              <p:cNvPr id="14" name="Picture 13" descr="A picture containing dark&#10;&#10;Description automatically generated">
                <a:extLst>
                  <a:ext uri="{FF2B5EF4-FFF2-40B4-BE49-F238E27FC236}">
                    <a16:creationId xmlns:a16="http://schemas.microsoft.com/office/drawing/2014/main" id="{B107979F-CAFF-131F-6C1E-E56E33C68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126608">
                <a:off x="10581321" y="1979400"/>
                <a:ext cx="811501" cy="735220"/>
              </a:xfrm>
              <a:prstGeom prst="rect">
                <a:avLst/>
              </a:prstGeom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0AE3A9-4361-01C9-4EFD-ECA6D36634BA}"/>
              </a:ext>
            </a:extLst>
          </p:cNvPr>
          <p:cNvGrpSpPr/>
          <p:nvPr/>
        </p:nvGrpSpPr>
        <p:grpSpPr>
          <a:xfrm>
            <a:off x="8244177" y="2262431"/>
            <a:ext cx="2917378" cy="1618265"/>
            <a:chOff x="4976654" y="2606702"/>
            <a:chExt cx="2917378" cy="1618265"/>
          </a:xfrm>
        </p:grpSpPr>
        <p:pic>
          <p:nvPicPr>
            <p:cNvPr id="18" name="Picture 17" descr="A group of white dice&#10;&#10;Description automatically generated with medium confidence">
              <a:extLst>
                <a:ext uri="{FF2B5EF4-FFF2-40B4-BE49-F238E27FC236}">
                  <a16:creationId xmlns:a16="http://schemas.microsoft.com/office/drawing/2014/main" id="{C3D57642-88BB-1AE1-47AE-8F8071046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2870" y="2606702"/>
              <a:ext cx="1633362" cy="93428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039654B-374B-39FD-7ED8-01F6AFD0F01A}"/>
                </a:ext>
              </a:extLst>
            </p:cNvPr>
            <p:cNvSpPr txBox="1"/>
            <p:nvPr/>
          </p:nvSpPr>
          <p:spPr>
            <a:xfrm>
              <a:off x="4976654" y="3763302"/>
              <a:ext cx="29173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RANDOMNESS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D5F7C23-8EB4-B674-C3A5-AB963256C004}"/>
              </a:ext>
            </a:extLst>
          </p:cNvPr>
          <p:cNvGrpSpPr/>
          <p:nvPr/>
        </p:nvGrpSpPr>
        <p:grpSpPr>
          <a:xfrm>
            <a:off x="4127518" y="4659813"/>
            <a:ext cx="3491400" cy="1615177"/>
            <a:chOff x="5267272" y="4664733"/>
            <a:chExt cx="3491400" cy="161517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78ED1C0-C64C-6895-7C7D-E11C4776A5EA}"/>
                </a:ext>
              </a:extLst>
            </p:cNvPr>
            <p:cNvSpPr txBox="1"/>
            <p:nvPr/>
          </p:nvSpPr>
          <p:spPr>
            <a:xfrm>
              <a:off x="5267272" y="5818245"/>
              <a:ext cx="3491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QUANTUM PHYSICS</a:t>
              </a:r>
            </a:p>
          </p:txBody>
        </p:sp>
        <p:pic>
          <p:nvPicPr>
            <p:cNvPr id="25" name="Picture 2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D83546D8-2E8A-5B04-0DC5-88D1A5A8D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3114866">
              <a:off x="6507300" y="4664733"/>
              <a:ext cx="1055932" cy="935556"/>
            </a:xfrm>
            <a:prstGeom prst="rect">
              <a:avLst/>
            </a:prstGeom>
            <a:effectLst>
              <a:glow rad="63500">
                <a:schemeClr val="accent1">
                  <a:alpha val="40000"/>
                </a:schemeClr>
              </a:glow>
            </a:effectLst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C889109-1257-461A-A874-1FE8BAD27D8C}"/>
              </a:ext>
            </a:extLst>
          </p:cNvPr>
          <p:cNvGrpSpPr/>
          <p:nvPr/>
        </p:nvGrpSpPr>
        <p:grpSpPr>
          <a:xfrm>
            <a:off x="8058759" y="4847448"/>
            <a:ext cx="2761641" cy="1427542"/>
            <a:chOff x="2698476" y="4914711"/>
            <a:chExt cx="2761641" cy="142754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F3EC7CB-E3A0-54E1-138A-AF94E2B7D8DA}"/>
                </a:ext>
              </a:extLst>
            </p:cNvPr>
            <p:cNvSpPr txBox="1"/>
            <p:nvPr/>
          </p:nvSpPr>
          <p:spPr>
            <a:xfrm>
              <a:off x="2698476" y="5880588"/>
              <a:ext cx="27616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COMMUNICATION</a:t>
              </a:r>
            </a:p>
          </p:txBody>
        </p:sp>
        <p:pic>
          <p:nvPicPr>
            <p:cNvPr id="33" name="Picture 32" descr="A white envelope with a black background&#10;&#10;Description automatically generated">
              <a:extLst>
                <a:ext uri="{FF2B5EF4-FFF2-40B4-BE49-F238E27FC236}">
                  <a16:creationId xmlns:a16="http://schemas.microsoft.com/office/drawing/2014/main" id="{DE0454EB-D849-E294-46AF-C07BACAEA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4256" y="4914711"/>
              <a:ext cx="975068" cy="975068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A94162-3082-623F-49C4-A90FE653FAC9}"/>
              </a:ext>
            </a:extLst>
          </p:cNvPr>
          <p:cNvGrpSpPr/>
          <p:nvPr/>
        </p:nvGrpSpPr>
        <p:grpSpPr>
          <a:xfrm>
            <a:off x="1598861" y="4597236"/>
            <a:ext cx="1130163" cy="1677754"/>
            <a:chOff x="1598861" y="4597236"/>
            <a:chExt cx="1130163" cy="16777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D5EE603-E14A-37BE-9C01-B5FBEF63F284}"/>
                </a:ext>
              </a:extLst>
            </p:cNvPr>
            <p:cNvSpPr txBox="1"/>
            <p:nvPr/>
          </p:nvSpPr>
          <p:spPr>
            <a:xfrm>
              <a:off x="1598861" y="5813325"/>
              <a:ext cx="113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ADVICE</a:t>
              </a:r>
            </a:p>
          </p:txBody>
        </p:sp>
        <p:pic>
          <p:nvPicPr>
            <p:cNvPr id="31" name="Picture 30" descr="A cartoon of an owl&#10;&#10;AI-generated content may be incorrect.">
              <a:extLst>
                <a:ext uri="{FF2B5EF4-FFF2-40B4-BE49-F238E27FC236}">
                  <a16:creationId xmlns:a16="http://schemas.microsoft.com/office/drawing/2014/main" id="{C0A2F31F-4987-C372-0375-9537AAD63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8318" y="4597236"/>
              <a:ext cx="1078185" cy="10781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068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24FD63-33A9-36BD-5078-C8E214B559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PSPACE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24FD63-33A9-36BD-5078-C8E214B559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A6E9C-8BA3-3135-06A9-1DB31BA9DB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1126" y="1834861"/>
                <a:ext cx="11249891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PSPACE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we expect: All of these containments are </a:t>
                </a:r>
                <a:r>
                  <a:rPr lang="en-US" dirty="0">
                    <a:solidFill>
                      <a:schemeClr val="accent1"/>
                    </a:solidFill>
                  </a:rPr>
                  <a:t>strict</a:t>
                </a:r>
              </a:p>
              <a:p>
                <a:r>
                  <a:rPr lang="en-US" dirty="0"/>
                  <a:t>What we can prove: </a:t>
                </a:r>
                <a:r>
                  <a:rPr lang="en-US" dirty="0">
                    <a:solidFill>
                      <a:schemeClr val="accent1"/>
                    </a:solidFill>
                  </a:rPr>
                  <a:t>At least one </a:t>
                </a:r>
                <a:r>
                  <a:rPr lang="en-US" dirty="0"/>
                  <a:t>of these containments is strict. (Why?)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A6E9C-8BA3-3135-06A9-1DB31BA9D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1126" y="1834861"/>
                <a:ext cx="11249891" cy="4351338"/>
              </a:xfrm>
              <a:blipFill>
                <a:blip r:embed="rId3"/>
                <a:stretch>
                  <a:fillRect l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A41C5-CC6C-740E-6A3B-3DFC6B7A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5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9019-B000-63F7-864C-29C52CFA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Sublinear-space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C5C5E-F356-D58D-4BDF-294CBFB971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we solve any interesting problems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space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The one-tape Turing machine is the </a:t>
                </a:r>
                <a:r>
                  <a:rPr lang="en-US" dirty="0">
                    <a:solidFill>
                      <a:schemeClr val="accent1"/>
                    </a:solidFill>
                  </a:rPr>
                  <a:t>not the right model</a:t>
                </a:r>
                <a:r>
                  <a:rPr lang="en-US" dirty="0"/>
                  <a:t> of computation for studying sublinear-space algorithms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C5C5E-F356-D58D-4BDF-294CBFB97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6F0D1-9372-905A-0715-AF3E33FC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41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832E-1997-D342-B523-9355CF7A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Sublinear-space computation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18B0E-DC8B-9CB2-25EC-39B67A2B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791630-E5CB-4BFB-DB47-C37294545EFB}"/>
              </a:ext>
            </a:extLst>
          </p:cNvPr>
          <p:cNvCxnSpPr/>
          <p:nvPr/>
        </p:nvCxnSpPr>
        <p:spPr>
          <a:xfrm>
            <a:off x="6227135" y="2397531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5D83B4-E4DE-03CD-48D9-2DEAD3F5F7D6}"/>
              </a:ext>
            </a:extLst>
          </p:cNvPr>
          <p:cNvCxnSpPr>
            <a:cxnSpLocks/>
          </p:cNvCxnSpPr>
          <p:nvPr/>
        </p:nvCxnSpPr>
        <p:spPr>
          <a:xfrm>
            <a:off x="5515200" y="2418796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2AEDA1-7544-90A6-1570-ED312458B5BB}"/>
              </a:ext>
            </a:extLst>
          </p:cNvPr>
          <p:cNvCxnSpPr/>
          <p:nvPr/>
        </p:nvCxnSpPr>
        <p:spPr>
          <a:xfrm>
            <a:off x="7187610" y="2418796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0AEA77-8870-0339-BAB9-6DC595EC52E7}"/>
              </a:ext>
            </a:extLst>
          </p:cNvPr>
          <p:cNvCxnSpPr/>
          <p:nvPr/>
        </p:nvCxnSpPr>
        <p:spPr>
          <a:xfrm>
            <a:off x="8165805" y="2418796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60F4DE-9467-8BD9-4112-CD311597A440}"/>
              </a:ext>
            </a:extLst>
          </p:cNvPr>
          <p:cNvCxnSpPr/>
          <p:nvPr/>
        </p:nvCxnSpPr>
        <p:spPr>
          <a:xfrm>
            <a:off x="9122735" y="2418796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2AE9CE-B467-81D7-4AA9-FB5234C14BC2}"/>
              </a:ext>
            </a:extLst>
          </p:cNvPr>
          <p:cNvCxnSpPr/>
          <p:nvPr/>
        </p:nvCxnSpPr>
        <p:spPr>
          <a:xfrm>
            <a:off x="10090298" y="2397531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F3CDAF-E64C-BEAC-E93C-558B035D15C2}"/>
              </a:ext>
            </a:extLst>
          </p:cNvPr>
          <p:cNvCxnSpPr/>
          <p:nvPr/>
        </p:nvCxnSpPr>
        <p:spPr>
          <a:xfrm>
            <a:off x="11100391" y="2397531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45E977-0C46-2B60-7AE8-DA030511B89C}"/>
              </a:ext>
            </a:extLst>
          </p:cNvPr>
          <p:cNvCxnSpPr/>
          <p:nvPr/>
        </p:nvCxnSpPr>
        <p:spPr>
          <a:xfrm>
            <a:off x="12046688" y="2418796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C5095-4036-E959-EE48-309955FB248B}"/>
              </a:ext>
            </a:extLst>
          </p:cNvPr>
          <p:cNvGrpSpPr/>
          <p:nvPr/>
        </p:nvGrpSpPr>
        <p:grpSpPr>
          <a:xfrm>
            <a:off x="7432162" y="2610244"/>
            <a:ext cx="2381690" cy="592290"/>
            <a:chOff x="7432162" y="893197"/>
            <a:chExt cx="2381690" cy="592290"/>
          </a:xfrm>
        </p:grpSpPr>
        <p:sp>
          <p:nvSpPr>
            <p:cNvPr id="17" name="A0">
              <a:extLst>
                <a:ext uri="{FF2B5EF4-FFF2-40B4-BE49-F238E27FC236}">
                  <a16:creationId xmlns:a16="http://schemas.microsoft.com/office/drawing/2014/main" id="{3233F7D9-79EB-68B7-7632-7472B258E475}"/>
                </a:ext>
              </a:extLst>
            </p:cNvPr>
            <p:cNvSpPr txBox="1"/>
            <p:nvPr/>
          </p:nvSpPr>
          <p:spPr>
            <a:xfrm>
              <a:off x="7432162" y="893197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18" name="B1">
              <a:extLst>
                <a:ext uri="{FF2B5EF4-FFF2-40B4-BE49-F238E27FC236}">
                  <a16:creationId xmlns:a16="http://schemas.microsoft.com/office/drawing/2014/main" id="{9B29607C-C4B3-A7D3-66AF-7E6A1676B129}"/>
                </a:ext>
              </a:extLst>
            </p:cNvPr>
            <p:cNvSpPr txBox="1"/>
            <p:nvPr/>
          </p:nvSpPr>
          <p:spPr>
            <a:xfrm>
              <a:off x="8378458" y="893198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19" name="C1">
              <a:extLst>
                <a:ext uri="{FF2B5EF4-FFF2-40B4-BE49-F238E27FC236}">
                  <a16:creationId xmlns:a16="http://schemas.microsoft.com/office/drawing/2014/main" id="{3621A697-A0EA-F1B1-B537-0D42F4112718}"/>
                </a:ext>
              </a:extLst>
            </p:cNvPr>
            <p:cNvSpPr txBox="1"/>
            <p:nvPr/>
          </p:nvSpPr>
          <p:spPr>
            <a:xfrm>
              <a:off x="9282225" y="900712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0</a:t>
              </a:r>
              <a:endParaRPr lang="en-US" dirty="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265DF3-8266-D065-6E81-D398168F2968}"/>
              </a:ext>
            </a:extLst>
          </p:cNvPr>
          <p:cNvCxnSpPr/>
          <p:nvPr/>
        </p:nvCxnSpPr>
        <p:spPr>
          <a:xfrm>
            <a:off x="6227135" y="456845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528D73-6160-96B2-7684-499F7027BAA9}"/>
              </a:ext>
            </a:extLst>
          </p:cNvPr>
          <p:cNvCxnSpPr/>
          <p:nvPr/>
        </p:nvCxnSpPr>
        <p:spPr>
          <a:xfrm>
            <a:off x="7187610" y="458972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C7448F-8E4E-061B-6293-37360B6273F4}"/>
              </a:ext>
            </a:extLst>
          </p:cNvPr>
          <p:cNvCxnSpPr/>
          <p:nvPr/>
        </p:nvCxnSpPr>
        <p:spPr>
          <a:xfrm>
            <a:off x="8165805" y="458972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1BD5A8-2811-3F0A-6A14-08C345EA5E9E}"/>
              </a:ext>
            </a:extLst>
          </p:cNvPr>
          <p:cNvCxnSpPr/>
          <p:nvPr/>
        </p:nvCxnSpPr>
        <p:spPr>
          <a:xfrm>
            <a:off x="9122735" y="458972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22DE8D-A5BE-B10A-4F35-6DCCB3121F82}"/>
              </a:ext>
            </a:extLst>
          </p:cNvPr>
          <p:cNvCxnSpPr/>
          <p:nvPr/>
        </p:nvCxnSpPr>
        <p:spPr>
          <a:xfrm>
            <a:off x="10090298" y="456845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6B294F-F36C-717D-4D5F-C33D63F18C7D}"/>
              </a:ext>
            </a:extLst>
          </p:cNvPr>
          <p:cNvCxnSpPr/>
          <p:nvPr/>
        </p:nvCxnSpPr>
        <p:spPr>
          <a:xfrm>
            <a:off x="11100391" y="456845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D20A09E-503C-715A-1BF3-0291524F4E84}"/>
              </a:ext>
            </a:extLst>
          </p:cNvPr>
          <p:cNvCxnSpPr/>
          <p:nvPr/>
        </p:nvCxnSpPr>
        <p:spPr>
          <a:xfrm>
            <a:off x="12046688" y="458972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Diamond 45">
            <a:extLst>
              <a:ext uri="{FF2B5EF4-FFF2-40B4-BE49-F238E27FC236}">
                <a16:creationId xmlns:a16="http://schemas.microsoft.com/office/drawing/2014/main" id="{BD1D8FA3-73F4-54C8-04C0-17CF96F2087E}"/>
              </a:ext>
            </a:extLst>
          </p:cNvPr>
          <p:cNvSpPr/>
          <p:nvPr/>
        </p:nvSpPr>
        <p:spPr>
          <a:xfrm>
            <a:off x="4690444" y="5725203"/>
            <a:ext cx="603113" cy="623191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5A54E01-8A33-2278-29B0-9D5EC95FD9F0}"/>
              </a:ext>
            </a:extLst>
          </p:cNvPr>
          <p:cNvSpPr/>
          <p:nvPr/>
        </p:nvSpPr>
        <p:spPr>
          <a:xfrm>
            <a:off x="5171519" y="6138153"/>
            <a:ext cx="3466643" cy="364082"/>
          </a:xfrm>
          <a:custGeom>
            <a:avLst/>
            <a:gdLst>
              <a:gd name="connsiteX0" fmla="*/ 4192622 w 4429764"/>
              <a:gd name="connsiteY0" fmla="*/ 1712068 h 2024265"/>
              <a:gd name="connsiteX1" fmla="*/ 4085617 w 4429764"/>
              <a:gd name="connsiteY1" fmla="*/ 2023353 h 2024265"/>
              <a:gd name="connsiteX2" fmla="*/ 894945 w 4429764"/>
              <a:gd name="connsiteY2" fmla="*/ 1624519 h 2024265"/>
              <a:gd name="connsiteX3" fmla="*/ 1342417 w 4429764"/>
              <a:gd name="connsiteY3" fmla="*/ 379379 h 2024265"/>
              <a:gd name="connsiteX4" fmla="*/ 0 w 4429764"/>
              <a:gd name="connsiteY4" fmla="*/ 0 h 2024265"/>
              <a:gd name="connsiteX0" fmla="*/ 4192622 w 4232318"/>
              <a:gd name="connsiteY0" fmla="*/ 1712068 h 1995260"/>
              <a:gd name="connsiteX1" fmla="*/ 3112851 w 4232318"/>
              <a:gd name="connsiteY1" fmla="*/ 1994170 h 1995260"/>
              <a:gd name="connsiteX2" fmla="*/ 894945 w 4232318"/>
              <a:gd name="connsiteY2" fmla="*/ 1624519 h 1995260"/>
              <a:gd name="connsiteX3" fmla="*/ 1342417 w 4232318"/>
              <a:gd name="connsiteY3" fmla="*/ 379379 h 1995260"/>
              <a:gd name="connsiteX4" fmla="*/ 0 w 4232318"/>
              <a:gd name="connsiteY4" fmla="*/ 0 h 1995260"/>
              <a:gd name="connsiteX0" fmla="*/ 4192622 w 4192622"/>
              <a:gd name="connsiteY0" fmla="*/ 1712068 h 1996589"/>
              <a:gd name="connsiteX1" fmla="*/ 3112851 w 4192622"/>
              <a:gd name="connsiteY1" fmla="*/ 1994170 h 1996589"/>
              <a:gd name="connsiteX2" fmla="*/ 894945 w 4192622"/>
              <a:gd name="connsiteY2" fmla="*/ 1624519 h 1996589"/>
              <a:gd name="connsiteX3" fmla="*/ 1342417 w 4192622"/>
              <a:gd name="connsiteY3" fmla="*/ 379379 h 1996589"/>
              <a:gd name="connsiteX4" fmla="*/ 0 w 4192622"/>
              <a:gd name="connsiteY4" fmla="*/ 0 h 1996589"/>
              <a:gd name="connsiteX0" fmla="*/ 4192622 w 4192622"/>
              <a:gd name="connsiteY0" fmla="*/ 1712068 h 1996589"/>
              <a:gd name="connsiteX1" fmla="*/ 2782111 w 4192622"/>
              <a:gd name="connsiteY1" fmla="*/ 1994170 h 1996589"/>
              <a:gd name="connsiteX2" fmla="*/ 894945 w 4192622"/>
              <a:gd name="connsiteY2" fmla="*/ 1624519 h 1996589"/>
              <a:gd name="connsiteX3" fmla="*/ 1342417 w 4192622"/>
              <a:gd name="connsiteY3" fmla="*/ 379379 h 1996589"/>
              <a:gd name="connsiteX4" fmla="*/ 0 w 4192622"/>
              <a:gd name="connsiteY4" fmla="*/ 0 h 1996589"/>
              <a:gd name="connsiteX0" fmla="*/ 4192622 w 4192622"/>
              <a:gd name="connsiteY0" fmla="*/ 1712068 h 1994420"/>
              <a:gd name="connsiteX1" fmla="*/ 2782111 w 4192622"/>
              <a:gd name="connsiteY1" fmla="*/ 1994170 h 1994420"/>
              <a:gd name="connsiteX2" fmla="*/ 1034093 w 4192622"/>
              <a:gd name="connsiteY2" fmla="*/ 1723910 h 1994420"/>
              <a:gd name="connsiteX3" fmla="*/ 1342417 w 4192622"/>
              <a:gd name="connsiteY3" fmla="*/ 379379 h 1994420"/>
              <a:gd name="connsiteX4" fmla="*/ 0 w 4192622"/>
              <a:gd name="connsiteY4" fmla="*/ 0 h 1994420"/>
              <a:gd name="connsiteX0" fmla="*/ 4192622 w 4192622"/>
              <a:gd name="connsiteY0" fmla="*/ 1712068 h 1999620"/>
              <a:gd name="connsiteX1" fmla="*/ 2782111 w 4192622"/>
              <a:gd name="connsiteY1" fmla="*/ 1994170 h 1999620"/>
              <a:gd name="connsiteX2" fmla="*/ 1034093 w 4192622"/>
              <a:gd name="connsiteY2" fmla="*/ 1723910 h 1999620"/>
              <a:gd name="connsiteX3" fmla="*/ 0 w 4192622"/>
              <a:gd name="connsiteY3" fmla="*/ 0 h 1999620"/>
              <a:gd name="connsiteX0" fmla="*/ 3158529 w 3158529"/>
              <a:gd name="connsiteY0" fmla="*/ 0 h 287552"/>
              <a:gd name="connsiteX1" fmla="*/ 1748018 w 3158529"/>
              <a:gd name="connsiteY1" fmla="*/ 282102 h 287552"/>
              <a:gd name="connsiteX2" fmla="*/ 0 w 3158529"/>
              <a:gd name="connsiteY2" fmla="*/ 11842 h 287552"/>
              <a:gd name="connsiteX0" fmla="*/ 3128712 w 3128712"/>
              <a:gd name="connsiteY0" fmla="*/ 0 h 300583"/>
              <a:gd name="connsiteX1" fmla="*/ 1718201 w 3128712"/>
              <a:gd name="connsiteY1" fmla="*/ 282102 h 300583"/>
              <a:gd name="connsiteX2" fmla="*/ 0 w 3128712"/>
              <a:gd name="connsiteY2" fmla="*/ 51598 h 300583"/>
              <a:gd name="connsiteX0" fmla="*/ 3128712 w 3128712"/>
              <a:gd name="connsiteY0" fmla="*/ 0 h 51598"/>
              <a:gd name="connsiteX1" fmla="*/ 0 w 3128712"/>
              <a:gd name="connsiteY1" fmla="*/ 51598 h 51598"/>
              <a:gd name="connsiteX0" fmla="*/ 3128712 w 3128712"/>
              <a:gd name="connsiteY0" fmla="*/ 0 h 264978"/>
              <a:gd name="connsiteX1" fmla="*/ 0 w 3128712"/>
              <a:gd name="connsiteY1" fmla="*/ 51598 h 264978"/>
              <a:gd name="connsiteX0" fmla="*/ 3128712 w 3128712"/>
              <a:gd name="connsiteY0" fmla="*/ 0 h 377356"/>
              <a:gd name="connsiteX1" fmla="*/ 0 w 3128712"/>
              <a:gd name="connsiteY1" fmla="*/ 51598 h 377356"/>
              <a:gd name="connsiteX0" fmla="*/ 3466643 w 3466643"/>
              <a:gd name="connsiteY0" fmla="*/ 0 h 364082"/>
              <a:gd name="connsiteX1" fmla="*/ 0 w 3466643"/>
              <a:gd name="connsiteY1" fmla="*/ 21781 h 36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66643" h="364082">
                <a:moveTo>
                  <a:pt x="3466643" y="0"/>
                </a:moveTo>
                <a:cubicBezTo>
                  <a:pt x="3338139" y="573790"/>
                  <a:pt x="784487" y="382269"/>
                  <a:pt x="0" y="21781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5A5B4C-A20B-B060-2A56-B114B3C9258D}"/>
              </a:ext>
            </a:extLst>
          </p:cNvPr>
          <p:cNvSpPr txBox="1"/>
          <p:nvPr/>
        </p:nvSpPr>
        <p:spPr>
          <a:xfrm>
            <a:off x="520700" y="2637233"/>
            <a:ext cx="4081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Read-only input tape ➡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0D6FDB-20FB-EBF2-E7EA-A4F45A7685C1}"/>
              </a:ext>
            </a:extLst>
          </p:cNvPr>
          <p:cNvSpPr txBox="1"/>
          <p:nvPr/>
        </p:nvSpPr>
        <p:spPr>
          <a:xfrm>
            <a:off x="462619" y="4839685"/>
            <a:ext cx="3935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Read-write work tape 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1">
                <a:extLst>
                  <a:ext uri="{FF2B5EF4-FFF2-40B4-BE49-F238E27FC236}">
                    <a16:creationId xmlns:a16="http://schemas.microsoft.com/office/drawing/2014/main" id="{63888AAA-08B7-04B9-9A39-3C750C4E1DEC}"/>
                  </a:ext>
                </a:extLst>
              </p:cNvPr>
              <p:cNvSpPr txBox="1"/>
              <p:nvPr/>
            </p:nvSpPr>
            <p:spPr>
              <a:xfrm>
                <a:off x="10361430" y="2626193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C1">
                <a:extLst>
                  <a:ext uri="{FF2B5EF4-FFF2-40B4-BE49-F238E27FC236}">
                    <a16:creationId xmlns:a16="http://schemas.microsoft.com/office/drawing/2014/main" id="{63888AAA-08B7-04B9-9A39-3C750C4E1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430" y="2626193"/>
                <a:ext cx="53162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1">
                <a:extLst>
                  <a:ext uri="{FF2B5EF4-FFF2-40B4-BE49-F238E27FC236}">
                    <a16:creationId xmlns:a16="http://schemas.microsoft.com/office/drawing/2014/main" id="{7C4A829D-AF7E-C7D2-ED70-AD089BCA98C9}"/>
                  </a:ext>
                </a:extLst>
              </p:cNvPr>
              <p:cNvSpPr txBox="1"/>
              <p:nvPr/>
            </p:nvSpPr>
            <p:spPr>
              <a:xfrm>
                <a:off x="11361297" y="2613237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C1">
                <a:extLst>
                  <a:ext uri="{FF2B5EF4-FFF2-40B4-BE49-F238E27FC236}">
                    <a16:creationId xmlns:a16="http://schemas.microsoft.com/office/drawing/2014/main" id="{7C4A829D-AF7E-C7D2-ED70-AD089BCA9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1297" y="2613237"/>
                <a:ext cx="53162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0">
            <a:extLst>
              <a:ext uri="{FF2B5EF4-FFF2-40B4-BE49-F238E27FC236}">
                <a16:creationId xmlns:a16="http://schemas.microsoft.com/office/drawing/2014/main" id="{B3ED3D67-DEE1-DC2D-63AA-54DD0F45E6F7}"/>
              </a:ext>
            </a:extLst>
          </p:cNvPr>
          <p:cNvSpPr txBox="1"/>
          <p:nvPr/>
        </p:nvSpPr>
        <p:spPr>
          <a:xfrm>
            <a:off x="6471687" y="2610244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1">
                <a:extLst>
                  <a:ext uri="{FF2B5EF4-FFF2-40B4-BE49-F238E27FC236}">
                    <a16:creationId xmlns:a16="http://schemas.microsoft.com/office/drawing/2014/main" id="{A6A4183F-6329-1353-4360-1F0F93B85CCA}"/>
                  </a:ext>
                </a:extLst>
              </p:cNvPr>
              <p:cNvSpPr txBox="1"/>
              <p:nvPr/>
            </p:nvSpPr>
            <p:spPr>
              <a:xfrm>
                <a:off x="5530704" y="2604202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C1">
                <a:extLst>
                  <a:ext uri="{FF2B5EF4-FFF2-40B4-BE49-F238E27FC236}">
                    <a16:creationId xmlns:a16="http://schemas.microsoft.com/office/drawing/2014/main" id="{A6A4183F-6329-1353-4360-1F0F93B85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704" y="2604202"/>
                <a:ext cx="53162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C0520DE-FB2E-D787-B93A-B52A6F56BB54}"/>
              </a:ext>
            </a:extLst>
          </p:cNvPr>
          <p:cNvCxnSpPr>
            <a:cxnSpLocks/>
          </p:cNvCxnSpPr>
          <p:nvPr/>
        </p:nvCxnSpPr>
        <p:spPr>
          <a:xfrm>
            <a:off x="5515200" y="3415396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892CD71-B67E-ACA1-495A-B95C067B3EBD}"/>
              </a:ext>
            </a:extLst>
          </p:cNvPr>
          <p:cNvCxnSpPr>
            <a:cxnSpLocks/>
          </p:cNvCxnSpPr>
          <p:nvPr/>
        </p:nvCxnSpPr>
        <p:spPr>
          <a:xfrm>
            <a:off x="5515200" y="4576120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0006AAF-53E2-1BCE-EC05-D6C4229E711F}"/>
              </a:ext>
            </a:extLst>
          </p:cNvPr>
          <p:cNvCxnSpPr>
            <a:cxnSpLocks/>
          </p:cNvCxnSpPr>
          <p:nvPr/>
        </p:nvCxnSpPr>
        <p:spPr>
          <a:xfrm>
            <a:off x="5530704" y="5579459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853927B6-BB16-7182-5F71-9AB79FD2A34B}"/>
              </a:ext>
            </a:extLst>
          </p:cNvPr>
          <p:cNvSpPr/>
          <p:nvPr/>
        </p:nvSpPr>
        <p:spPr>
          <a:xfrm>
            <a:off x="6315741" y="3237503"/>
            <a:ext cx="832882" cy="729030"/>
          </a:xfrm>
          <a:prstGeom prst="triangle">
            <a:avLst/>
          </a:prstGeom>
          <a:solidFill>
            <a:srgbClr val="00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BB58D08-DF5F-B7DF-D5C1-4B99CCC11C6D}"/>
              </a:ext>
            </a:extLst>
          </p:cNvPr>
          <p:cNvSpPr/>
          <p:nvPr/>
        </p:nvSpPr>
        <p:spPr>
          <a:xfrm>
            <a:off x="8222513" y="5385934"/>
            <a:ext cx="832882" cy="729030"/>
          </a:xfrm>
          <a:prstGeom prst="triangle">
            <a:avLst/>
          </a:prstGeom>
          <a:solidFill>
            <a:srgbClr val="00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19D6665-8966-7DBA-F0FD-7FCB61630B8B}"/>
              </a:ext>
            </a:extLst>
          </p:cNvPr>
          <p:cNvSpPr/>
          <p:nvPr/>
        </p:nvSpPr>
        <p:spPr>
          <a:xfrm>
            <a:off x="5121824" y="3959158"/>
            <a:ext cx="1580561" cy="1911909"/>
          </a:xfrm>
          <a:custGeom>
            <a:avLst/>
            <a:gdLst>
              <a:gd name="connsiteX0" fmla="*/ 2276272 w 2324068"/>
              <a:gd name="connsiteY0" fmla="*/ 0 h 360615"/>
              <a:gd name="connsiteX1" fmla="*/ 2023353 w 2324068"/>
              <a:gd name="connsiteY1" fmla="*/ 340469 h 360615"/>
              <a:gd name="connsiteX2" fmla="*/ 0 w 2324068"/>
              <a:gd name="connsiteY2" fmla="*/ 291830 h 360615"/>
              <a:gd name="connsiteX0" fmla="*/ 2276272 w 2283976"/>
              <a:gd name="connsiteY0" fmla="*/ 0 h 360615"/>
              <a:gd name="connsiteX1" fmla="*/ 1624519 w 2283976"/>
              <a:gd name="connsiteY1" fmla="*/ 340469 h 360615"/>
              <a:gd name="connsiteX2" fmla="*/ 0 w 2283976"/>
              <a:gd name="connsiteY2" fmla="*/ 291830 h 360615"/>
              <a:gd name="connsiteX0" fmla="*/ 2276272 w 2276272"/>
              <a:gd name="connsiteY0" fmla="*/ 0 h 360615"/>
              <a:gd name="connsiteX1" fmla="*/ 1624519 w 2276272"/>
              <a:gd name="connsiteY1" fmla="*/ 340469 h 360615"/>
              <a:gd name="connsiteX2" fmla="*/ 0 w 2276272"/>
              <a:gd name="connsiteY2" fmla="*/ 291830 h 360615"/>
              <a:gd name="connsiteX0" fmla="*/ 2276272 w 2276272"/>
              <a:gd name="connsiteY0" fmla="*/ 0 h 385604"/>
              <a:gd name="connsiteX1" fmla="*/ 1435675 w 2276272"/>
              <a:gd name="connsiteY1" fmla="*/ 370286 h 385604"/>
              <a:gd name="connsiteX2" fmla="*/ 0 w 2276272"/>
              <a:gd name="connsiteY2" fmla="*/ 291830 h 385604"/>
              <a:gd name="connsiteX0" fmla="*/ 1242602 w 1242602"/>
              <a:gd name="connsiteY0" fmla="*/ 0 h 1893171"/>
              <a:gd name="connsiteX1" fmla="*/ 402005 w 1242602"/>
              <a:gd name="connsiteY1" fmla="*/ 370286 h 1893171"/>
              <a:gd name="connsiteX2" fmla="*/ 0 w 1242602"/>
              <a:gd name="connsiteY2" fmla="*/ 1892030 h 1893171"/>
              <a:gd name="connsiteX0" fmla="*/ 1242602 w 1242602"/>
              <a:gd name="connsiteY0" fmla="*/ 0 h 1892030"/>
              <a:gd name="connsiteX1" fmla="*/ 402005 w 1242602"/>
              <a:gd name="connsiteY1" fmla="*/ 370286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0 w 1580533"/>
              <a:gd name="connsiteY1" fmla="*/ 1911909 h 1911909"/>
              <a:gd name="connsiteX0" fmla="*/ 1580533 w 1580558"/>
              <a:gd name="connsiteY0" fmla="*/ 0 h 1911909"/>
              <a:gd name="connsiteX1" fmla="*/ 0 w 1580558"/>
              <a:gd name="connsiteY1" fmla="*/ 1911909 h 1911909"/>
              <a:gd name="connsiteX0" fmla="*/ 1580533 w 1580561"/>
              <a:gd name="connsiteY0" fmla="*/ 0 h 1911909"/>
              <a:gd name="connsiteX1" fmla="*/ 0 w 1580561"/>
              <a:gd name="connsiteY1" fmla="*/ 1911909 h 1911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80561" h="1911909">
                <a:moveTo>
                  <a:pt x="1580533" y="0"/>
                </a:moveTo>
                <a:cubicBezTo>
                  <a:pt x="1586489" y="658903"/>
                  <a:pt x="642044" y="1418606"/>
                  <a:pt x="0" y="1911909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1">
                <a:extLst>
                  <a:ext uri="{FF2B5EF4-FFF2-40B4-BE49-F238E27FC236}">
                    <a16:creationId xmlns:a16="http://schemas.microsoft.com/office/drawing/2014/main" id="{78132BD8-9849-9C2E-D138-6F0CC447071C}"/>
                  </a:ext>
                </a:extLst>
              </p:cNvPr>
              <p:cNvSpPr txBox="1"/>
              <p:nvPr/>
            </p:nvSpPr>
            <p:spPr>
              <a:xfrm>
                <a:off x="5552280" y="4773850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C1">
                <a:extLst>
                  <a:ext uri="{FF2B5EF4-FFF2-40B4-BE49-F238E27FC236}">
                    <a16:creationId xmlns:a16="http://schemas.microsoft.com/office/drawing/2014/main" id="{78132BD8-9849-9C2E-D138-6F0CC4470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280" y="4773850"/>
                <a:ext cx="53162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0">
            <a:extLst>
              <a:ext uri="{FF2B5EF4-FFF2-40B4-BE49-F238E27FC236}">
                <a16:creationId xmlns:a16="http://schemas.microsoft.com/office/drawing/2014/main" id="{773C373E-D437-4954-4A03-56212180BD7A}"/>
              </a:ext>
            </a:extLst>
          </p:cNvPr>
          <p:cNvSpPr txBox="1"/>
          <p:nvPr/>
        </p:nvSpPr>
        <p:spPr>
          <a:xfrm>
            <a:off x="6432700" y="4751567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  <a:endParaRPr lang="en-US" dirty="0"/>
          </a:p>
        </p:txBody>
      </p:sp>
      <p:sp>
        <p:nvSpPr>
          <p:cNvPr id="5" name="A0">
            <a:extLst>
              <a:ext uri="{FF2B5EF4-FFF2-40B4-BE49-F238E27FC236}">
                <a16:creationId xmlns:a16="http://schemas.microsoft.com/office/drawing/2014/main" id="{98227A13-E79E-4B63-0AC9-305E659B332B}"/>
              </a:ext>
            </a:extLst>
          </p:cNvPr>
          <p:cNvSpPr txBox="1"/>
          <p:nvPr/>
        </p:nvSpPr>
        <p:spPr>
          <a:xfrm>
            <a:off x="7411573" y="4753479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0</a:t>
            </a:r>
            <a:endParaRPr lang="en-US" dirty="0"/>
          </a:p>
        </p:txBody>
      </p:sp>
      <p:sp>
        <p:nvSpPr>
          <p:cNvPr id="8" name="A0">
            <a:extLst>
              <a:ext uri="{FF2B5EF4-FFF2-40B4-BE49-F238E27FC236}">
                <a16:creationId xmlns:a16="http://schemas.microsoft.com/office/drawing/2014/main" id="{D83CB729-6339-5FEF-0A12-A7637BC06004}"/>
              </a:ext>
            </a:extLst>
          </p:cNvPr>
          <p:cNvSpPr txBox="1"/>
          <p:nvPr/>
        </p:nvSpPr>
        <p:spPr>
          <a:xfrm>
            <a:off x="8363987" y="4753489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#</a:t>
            </a:r>
            <a:endParaRPr lang="en-US" dirty="0"/>
          </a:p>
        </p:txBody>
      </p:sp>
      <p:sp>
        <p:nvSpPr>
          <p:cNvPr id="20" name="A0">
            <a:extLst>
              <a:ext uri="{FF2B5EF4-FFF2-40B4-BE49-F238E27FC236}">
                <a16:creationId xmlns:a16="http://schemas.microsoft.com/office/drawing/2014/main" id="{D6E69DA7-C9FA-1713-7375-F5F116ADE59B}"/>
              </a:ext>
            </a:extLst>
          </p:cNvPr>
          <p:cNvSpPr txBox="1"/>
          <p:nvPr/>
        </p:nvSpPr>
        <p:spPr>
          <a:xfrm>
            <a:off x="9319439" y="4739425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  <a:endParaRPr lang="en-US" dirty="0"/>
          </a:p>
        </p:txBody>
      </p:sp>
      <p:sp>
        <p:nvSpPr>
          <p:cNvPr id="21" name="A0">
            <a:extLst>
              <a:ext uri="{FF2B5EF4-FFF2-40B4-BE49-F238E27FC236}">
                <a16:creationId xmlns:a16="http://schemas.microsoft.com/office/drawing/2014/main" id="{CF0268E9-0ECD-FE70-5C4C-DF50906D2D57}"/>
              </a:ext>
            </a:extLst>
          </p:cNvPr>
          <p:cNvSpPr txBox="1"/>
          <p:nvPr/>
        </p:nvSpPr>
        <p:spPr>
          <a:xfrm>
            <a:off x="10329531" y="4753479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$</a:t>
            </a:r>
            <a:endParaRPr lang="en-US" dirty="0"/>
          </a:p>
        </p:txBody>
      </p:sp>
      <p:sp>
        <p:nvSpPr>
          <p:cNvPr id="23" name="A0">
            <a:extLst>
              <a:ext uri="{FF2B5EF4-FFF2-40B4-BE49-F238E27FC236}">
                <a16:creationId xmlns:a16="http://schemas.microsoft.com/office/drawing/2014/main" id="{8A3224E5-FBFB-CEFD-4041-C1CAD216AC8B}"/>
              </a:ext>
            </a:extLst>
          </p:cNvPr>
          <p:cNvSpPr txBox="1"/>
          <p:nvPr/>
        </p:nvSpPr>
        <p:spPr>
          <a:xfrm>
            <a:off x="11287905" y="4751567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570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9E4AD9-5E61-18A5-1713-8A190FFB6C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0" dirty="0"/>
                  <a:t>The complexity class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9E4AD9-5E61-18A5-1713-8A190FFB6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777C6-5428-5C33-BEE8-7CA100303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219" y="1825624"/>
                <a:ext cx="11679382" cy="480608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 be a function (space bound)</a:t>
                </a:r>
              </a:p>
              <a:p>
                <a:r>
                  <a:rPr lang="en-US" b="1" dirty="0"/>
                  <a:t>Definition: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/>
                  <a:t> if there is a two-tape Turing machine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such that: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decides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never modifies the symbols written on tape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b="0" dirty="0"/>
              </a:p>
              <a:p>
                <a:pPr lvl="1"/>
                <a:r>
                  <a:rPr lang="en-US" sz="2800" dirty="0"/>
                  <a:t>Tape 1 head is always located within one cell of the input</a:t>
                </a:r>
              </a:p>
              <a:p>
                <a:pPr lvl="1"/>
                <a:r>
                  <a:rPr lang="en-US" sz="2800" dirty="0"/>
                  <a:t>When the input has length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the tape 2 head visits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cells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777C6-5428-5C33-BEE8-7CA100303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219" y="1825624"/>
                <a:ext cx="11679382" cy="4806085"/>
              </a:xfrm>
              <a:blipFill>
                <a:blip r:embed="rId3"/>
                <a:stretch>
                  <a:fillRect l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E91B7-CCFF-EF07-DF70-614E9878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96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831409-8360-6C69-4E2E-FB2645AADB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complexity class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B831409-8360-6C69-4E2E-FB2645AAD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386813-8C24-BFAE-1169-4D86BEB8E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Exercise: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PSPACE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SPACE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r>
                  <a:rPr lang="en-US" b="1" dirty="0"/>
                  <a:t>Definition: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is the set of languages that can be decided in </a:t>
                </a:r>
                <a:r>
                  <a:rPr lang="en-US" dirty="0">
                    <a:solidFill>
                      <a:schemeClr val="accent1"/>
                    </a:solidFill>
                  </a:rPr>
                  <a:t>logarithmic 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386813-8C24-BFAE-1169-4D86BEB8E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85C26-69C2-78B6-B303-A2FDBAD48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E7CDCF-27F2-4E3B-8BFC-D53B1D7ED526}"/>
              </a:ext>
            </a:extLst>
          </p:cNvPr>
          <p:cNvGrpSpPr/>
          <p:nvPr/>
        </p:nvGrpSpPr>
        <p:grpSpPr>
          <a:xfrm>
            <a:off x="3381219" y="4294421"/>
            <a:ext cx="4444290" cy="2114417"/>
            <a:chOff x="3381219" y="4294421"/>
            <a:chExt cx="4444290" cy="211441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F8704CD-B238-CD85-67B4-02FF9F0F4096}"/>
                </a:ext>
              </a:extLst>
            </p:cNvPr>
            <p:cNvGrpSpPr/>
            <p:nvPr/>
          </p:nvGrpSpPr>
          <p:grpSpPr>
            <a:xfrm>
              <a:off x="6030307" y="4448203"/>
              <a:ext cx="1795202" cy="1522767"/>
              <a:chOff x="8505371" y="3554013"/>
              <a:chExt cx="1074198" cy="911180"/>
            </a:xfrm>
          </p:grpSpPr>
          <p:pic>
            <p:nvPicPr>
              <p:cNvPr id="6" name="Picture 5" descr="A yellow sticky note on a black background&#10;&#10;AI-generated content may be incorrect.">
                <a:extLst>
                  <a:ext uri="{FF2B5EF4-FFF2-40B4-BE49-F238E27FC236}">
                    <a16:creationId xmlns:a16="http://schemas.microsoft.com/office/drawing/2014/main" id="{E4DCC81B-F8D8-1A57-07E6-F4D63F47AD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05371" y="3716339"/>
                <a:ext cx="773609" cy="748854"/>
              </a:xfrm>
              <a:prstGeom prst="rect">
                <a:avLst/>
              </a:prstGeom>
            </p:spPr>
          </p:pic>
          <p:pic>
            <p:nvPicPr>
              <p:cNvPr id="7" name="Picture 6" descr="A pencil with a red eraser&#10;&#10;AI-generated content may be incorrect.">
                <a:extLst>
                  <a:ext uri="{FF2B5EF4-FFF2-40B4-BE49-F238E27FC236}">
                    <a16:creationId xmlns:a16="http://schemas.microsoft.com/office/drawing/2014/main" id="{E146AA66-64CB-08F1-BEDD-7EC9D1CF6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989675">
                <a:off x="8741908" y="3554013"/>
                <a:ext cx="837661" cy="837661"/>
              </a:xfrm>
              <a:prstGeom prst="rect">
                <a:avLst/>
              </a:prstGeom>
            </p:spPr>
          </p:pic>
        </p:grpSp>
        <p:pic>
          <p:nvPicPr>
            <p:cNvPr id="11" name="Picture 10" descr="A green book with a red label&#10;&#10;AI-generated content may be incorrect.">
              <a:extLst>
                <a:ext uri="{FF2B5EF4-FFF2-40B4-BE49-F238E27FC236}">
                  <a16:creationId xmlns:a16="http://schemas.microsoft.com/office/drawing/2014/main" id="{A668E4A0-52C9-5C1D-7F58-D155044EE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1219" y="4294421"/>
              <a:ext cx="2114417" cy="21144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614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B4F1-25A9-D21C-44F4-E20C08985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Balanced binary strings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46893-913C-68F2-A817-A8E3459CF1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9527" y="1825625"/>
                <a:ext cx="11249891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BALANCED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has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equal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numbers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zeroes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ones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/>
                  <a:t>Claim: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BALANCED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Proof sketch:</a:t>
                </a:r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Count the number of ones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Count the number of zeroes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Check whether the two counts are equal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46893-913C-68F2-A817-A8E3459CF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9527" y="1825625"/>
                <a:ext cx="11249891" cy="4351338"/>
              </a:xfrm>
              <a:blipFill>
                <a:blip r:embed="rId3"/>
                <a:stretch>
                  <a:fillRect l="-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9F71E-0878-C22E-8C80-1E616B7D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82DFF7-2A34-3AC4-4F96-9C7C0D23DEA7}"/>
              </a:ext>
            </a:extLst>
          </p:cNvPr>
          <p:cNvGrpSpPr/>
          <p:nvPr/>
        </p:nvGrpSpPr>
        <p:grpSpPr>
          <a:xfrm>
            <a:off x="6871854" y="4250771"/>
            <a:ext cx="4978401" cy="988291"/>
            <a:chOff x="6871854" y="4250771"/>
            <a:chExt cx="4978401" cy="9882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80CECE6-FB05-2C87-1810-C83725D25EAD}"/>
                    </a:ext>
                  </a:extLst>
                </p:cNvPr>
                <p:cNvSpPr txBox="1"/>
                <p:nvPr/>
              </p:nvSpPr>
              <p:spPr>
                <a:xfrm>
                  <a:off x="7222836" y="4544861"/>
                  <a:ext cx="46274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 These counters are only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a14:m>
                  <a:r>
                    <a:rPr lang="en-US" sz="2000" dirty="0">
                      <a:solidFill>
                        <a:schemeClr val="accent1"/>
                      </a:solidFill>
                    </a:rPr>
                    <a:t> bits</a:t>
                  </a:r>
                  <a:r>
                    <a:rPr lang="en-US" sz="2000" dirty="0"/>
                    <a:t> each!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80CECE6-FB05-2C87-1810-C83725D25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836" y="4544861"/>
                  <a:ext cx="4627419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264" t="-9231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4BC0746B-2126-A20C-10BE-724DEDF50BA0}"/>
                </a:ext>
              </a:extLst>
            </p:cNvPr>
            <p:cNvSpPr/>
            <p:nvPr/>
          </p:nvSpPr>
          <p:spPr>
            <a:xfrm>
              <a:off x="6871854" y="4250771"/>
              <a:ext cx="286327" cy="988291"/>
            </a:xfrm>
            <a:prstGeom prst="rightBrace">
              <a:avLst>
                <a:gd name="adj1" fmla="val 47109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734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EAE7D8-ADF9-9179-B492-BE4694B68A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5EAE7D8-ADF9-9179-B492-BE4694B68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95E957-5E5C-3AB0-052F-0A7D838960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Exercise: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dirty="0"/>
              </a:p>
              <a:p>
                <a:r>
                  <a:rPr lang="en-US" dirty="0"/>
                  <a:t>(Similar to the proof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PSPACE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95E957-5E5C-3AB0-052F-0A7D838960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40B95-5888-5F1B-95B1-86FE7B8A0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54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F2749C6E-1A1B-3757-4E10-8B99FB432499}"/>
              </a:ext>
            </a:extLst>
          </p:cNvPr>
          <p:cNvSpPr/>
          <p:nvPr/>
        </p:nvSpPr>
        <p:spPr>
          <a:xfrm>
            <a:off x="3893127" y="1524000"/>
            <a:ext cx="4405745" cy="4966844"/>
          </a:xfrm>
          <a:prstGeom prst="ellipse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5FCAA-C027-1328-93EA-3E360001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1A9460-113E-47CA-C5F1-D49E2E72DF15}"/>
              </a:ext>
            </a:extLst>
          </p:cNvPr>
          <p:cNvSpPr/>
          <p:nvPr/>
        </p:nvSpPr>
        <p:spPr>
          <a:xfrm>
            <a:off x="4768274" y="2713971"/>
            <a:ext cx="2632363" cy="3576352"/>
          </a:xfrm>
          <a:prstGeom prst="ellipse">
            <a:avLst/>
          </a:prstGeom>
          <a:solidFill>
            <a:srgbClr val="E2E2E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A7A9D0-D666-B280-894D-D8AE6F4A4F33}"/>
              </a:ext>
            </a:extLst>
          </p:cNvPr>
          <p:cNvSpPr/>
          <p:nvPr/>
        </p:nvSpPr>
        <p:spPr>
          <a:xfrm>
            <a:off x="5251936" y="3951769"/>
            <a:ext cx="1670972" cy="2121853"/>
          </a:xfrm>
          <a:prstGeom prst="ellipse">
            <a:avLst/>
          </a:prstGeom>
          <a:solidFill>
            <a:srgbClr val="D5D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5C513E-4FC9-F423-3071-7B0D8791CEC2}"/>
              </a:ext>
            </a:extLst>
          </p:cNvPr>
          <p:cNvSpPr/>
          <p:nvPr/>
        </p:nvSpPr>
        <p:spPr>
          <a:xfrm>
            <a:off x="5678362" y="5012696"/>
            <a:ext cx="835270" cy="82995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9DB675-415D-7823-D9E8-E390CE9AC9C9}"/>
                  </a:ext>
                </a:extLst>
              </p:cNvPr>
              <p:cNvSpPr txBox="1"/>
              <p:nvPr/>
            </p:nvSpPr>
            <p:spPr>
              <a:xfrm>
                <a:off x="5895387" y="5068853"/>
                <a:ext cx="430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9DB675-415D-7823-D9E8-E390CE9AC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387" y="5068853"/>
                <a:ext cx="43030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83E1D0-A2F7-9F49-BC9A-002C657248C1}"/>
                  </a:ext>
                </a:extLst>
              </p:cNvPr>
              <p:cNvSpPr txBox="1"/>
              <p:nvPr/>
            </p:nvSpPr>
            <p:spPr>
              <a:xfrm>
                <a:off x="5791197" y="3229156"/>
                <a:ext cx="5752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NP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83E1D0-A2F7-9F49-BC9A-002C65724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197" y="3229156"/>
                <a:ext cx="57529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A2D381-4C11-6DDA-86B3-C348CF3A8CA0}"/>
                  </a:ext>
                </a:extLst>
              </p:cNvPr>
              <p:cNvSpPr txBox="1"/>
              <p:nvPr/>
            </p:nvSpPr>
            <p:spPr>
              <a:xfrm>
                <a:off x="5234785" y="1890324"/>
                <a:ext cx="16881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PSPACE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A2D381-4C11-6DDA-86B3-C348CF3A8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785" y="1890324"/>
                <a:ext cx="16881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B21A7C9F-DAB2-493D-5104-2D2E84416B07}"/>
              </a:ext>
            </a:extLst>
          </p:cNvPr>
          <p:cNvSpPr/>
          <p:nvPr/>
        </p:nvSpPr>
        <p:spPr>
          <a:xfrm>
            <a:off x="3075709" y="277091"/>
            <a:ext cx="6059055" cy="64469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926160-EAD0-6771-D37E-3AE801C6614C}"/>
                  </a:ext>
                </a:extLst>
              </p:cNvPr>
              <p:cNvSpPr txBox="1"/>
              <p:nvPr/>
            </p:nvSpPr>
            <p:spPr>
              <a:xfrm>
                <a:off x="5251936" y="566157"/>
                <a:ext cx="16881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926160-EAD0-6771-D37E-3AE801C66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36" y="566157"/>
                <a:ext cx="168812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71DBEA-C4FA-9B25-B048-74757FA2AC5B}"/>
                  </a:ext>
                </a:extLst>
              </p:cNvPr>
              <p:cNvSpPr txBox="1"/>
              <p:nvPr/>
            </p:nvSpPr>
            <p:spPr>
              <a:xfrm>
                <a:off x="5686098" y="4095340"/>
                <a:ext cx="860835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71DBEA-C4FA-9B25-B048-74757FA2A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098" y="4095340"/>
                <a:ext cx="860835" cy="3693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998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1AFB5B-8727-9D4F-5969-480D848A25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problem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21AFB5B-8727-9D4F-5969-480D848A25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B2CF77-5EA9-D44B-D08B-59E2B1EFED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expect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, but we don’t know how to prove it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would mean that </a:t>
                </a:r>
                <a:r>
                  <a:rPr lang="en-US" dirty="0">
                    <a:solidFill>
                      <a:schemeClr val="accent1"/>
                    </a:solidFill>
                  </a:rPr>
                  <a:t>every</a:t>
                </a:r>
                <a:r>
                  <a:rPr lang="en-US" dirty="0"/>
                  <a:t> efficient algorithm can be modified so that it only uses a </a:t>
                </a:r>
                <a:r>
                  <a:rPr lang="en-US" dirty="0">
                    <a:solidFill>
                      <a:schemeClr val="accent1"/>
                    </a:solidFill>
                  </a:rPr>
                  <a:t>tiny </a:t>
                </a:r>
                <a:r>
                  <a:rPr lang="en-US" dirty="0"/>
                  <a:t>amount of work space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B2CF77-5EA9-D44B-D08B-59E2B1EFE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817C-3EB3-AED8-5EEA-CCC27E30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142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32ADDF-BC9D-8D23-847C-E03078BBE5E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PSPACE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F32ADDF-BC9D-8D23-847C-E03078BBE5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C2489A-B9C2-88DE-7F80-732487320D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521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PSPACE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we expect: </a:t>
                </a:r>
                <a:r>
                  <a:rPr lang="en-US" dirty="0">
                    <a:solidFill>
                      <a:schemeClr val="accent1"/>
                    </a:solidFill>
                  </a:rPr>
                  <a:t>All</a:t>
                </a:r>
                <a:r>
                  <a:rPr lang="en-US" dirty="0"/>
                  <a:t> of these containments are </a:t>
                </a:r>
                <a:r>
                  <a:rPr lang="en-US" dirty="0">
                    <a:solidFill>
                      <a:schemeClr val="accent1"/>
                    </a:solidFill>
                  </a:rPr>
                  <a:t>strict</a:t>
                </a:r>
              </a:p>
              <a:p>
                <a:r>
                  <a:rPr lang="en-US" dirty="0"/>
                  <a:t>What we can prove: </a:t>
                </a:r>
                <a:r>
                  <a:rPr lang="en-US" dirty="0">
                    <a:solidFill>
                      <a:schemeClr val="accent1"/>
                    </a:solidFill>
                  </a:rPr>
                  <a:t>At least one </a:t>
                </a:r>
                <a:r>
                  <a:rPr lang="en-US" dirty="0"/>
                  <a:t>of these containments is strict: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(Proof omitted)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C2489A-B9C2-88DE-7F80-732487320D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5219"/>
              </a:xfrm>
              <a:blipFill>
                <a:blip r:embed="rId3"/>
                <a:stretch>
                  <a:fillRect l="-1043" b="-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5E800-D37E-8ECC-4040-1E7AB8F6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0E0732-2F83-3CDA-0D25-5B42882BF353}"/>
                  </a:ext>
                </a:extLst>
              </p:cNvPr>
              <p:cNvSpPr/>
              <p:nvPr/>
            </p:nvSpPr>
            <p:spPr>
              <a:xfrm>
                <a:off x="3902697" y="4452751"/>
                <a:ext cx="3987537" cy="8856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PSPACE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20E0732-2F83-3CDA-0D25-5B42882BF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697" y="4452751"/>
                <a:ext cx="3987537" cy="885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09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E1CA-AFD4-75D7-9D32-619D5E80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Nondeterministic log space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FC254-1740-5F6C-0B77-F67DBA2AF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Definition: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 is the class of languages that can be decided by a </a:t>
                </a:r>
                <a:r>
                  <a:rPr lang="en-US" dirty="0">
                    <a:solidFill>
                      <a:schemeClr val="accent1"/>
                    </a:solidFill>
                  </a:rPr>
                  <a:t>nondeterministic</a:t>
                </a:r>
                <a:r>
                  <a:rPr lang="en-US" dirty="0"/>
                  <a:t> log-space Turing machine</a:t>
                </a:r>
              </a:p>
              <a:p>
                <a:r>
                  <a:rPr lang="en-US" dirty="0"/>
                  <a:t>Equivalently, we imagine a log-space </a:t>
                </a:r>
                <a:r>
                  <a:rPr lang="en-US" dirty="0">
                    <a:solidFill>
                      <a:schemeClr val="accent1"/>
                    </a:solidFill>
                  </a:rPr>
                  <a:t>verifier</a:t>
                </a:r>
              </a:p>
              <a:p>
                <a:pPr lvl="1"/>
                <a:r>
                  <a:rPr lang="en-US" dirty="0"/>
                  <a:t>Technicality: Verifier reads certificate </a:t>
                </a:r>
                <a:r>
                  <a:rPr lang="en-US" dirty="0">
                    <a:solidFill>
                      <a:schemeClr val="accent1"/>
                    </a:solidFill>
                  </a:rPr>
                  <a:t>one time</a:t>
                </a:r>
                <a:r>
                  <a:rPr lang="en-US" dirty="0"/>
                  <a:t> from left to right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FC254-1740-5F6C-0B77-F67DBA2AF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FF387-F701-F849-369B-74BDA5D2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39B9FA-C183-1CCA-EAA6-2EBE7CFEFDC4}"/>
              </a:ext>
            </a:extLst>
          </p:cNvPr>
          <p:cNvGrpSpPr/>
          <p:nvPr/>
        </p:nvGrpSpPr>
        <p:grpSpPr>
          <a:xfrm>
            <a:off x="3261599" y="4646757"/>
            <a:ext cx="5012691" cy="1844087"/>
            <a:chOff x="3261599" y="4646757"/>
            <a:chExt cx="5012691" cy="1844087"/>
          </a:xfrm>
        </p:grpSpPr>
        <p:pic>
          <p:nvPicPr>
            <p:cNvPr id="5" name="Picture 4" descr="A cartoon fox sitting in a field of flowers&#10;&#10;AI-generated content may be incorrect.">
              <a:extLst>
                <a:ext uri="{FF2B5EF4-FFF2-40B4-BE49-F238E27FC236}">
                  <a16:creationId xmlns:a16="http://schemas.microsoft.com/office/drawing/2014/main" id="{B5DA4626-903A-C51C-DCAC-6EA6FB5FF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261599" y="4979060"/>
              <a:ext cx="1511784" cy="151178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D01E3C-AFDD-0779-4C09-508A6DB1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154" r="25589"/>
            <a:stretch>
              <a:fillRect/>
            </a:stretch>
          </p:blipFill>
          <p:spPr>
            <a:xfrm>
              <a:off x="7104497" y="4950096"/>
              <a:ext cx="1169793" cy="151178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Speech Bubble: Oval 6">
                  <a:extLst>
                    <a:ext uri="{FF2B5EF4-FFF2-40B4-BE49-F238E27FC236}">
                      <a16:creationId xmlns:a16="http://schemas.microsoft.com/office/drawing/2014/main" id="{8FA0319F-5692-0C35-341C-39C8C03E6A3C}"/>
                    </a:ext>
                  </a:extLst>
                </p:cNvPr>
                <p:cNvSpPr/>
                <p:nvPr/>
              </p:nvSpPr>
              <p:spPr>
                <a:xfrm>
                  <a:off x="4631093" y="4646757"/>
                  <a:ext cx="2551289" cy="966032"/>
                </a:xfrm>
                <a:prstGeom prst="wedgeEllipseCallout">
                  <a:avLst>
                    <a:gd name="adj1" fmla="val -60288"/>
                    <a:gd name="adj2" fmla="val 16281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a14:m>
                  <a:r>
                    <a:rPr lang="en-US" dirty="0">
                      <a:solidFill>
                        <a:schemeClr val="tx1"/>
                      </a:solidFill>
                    </a:rPr>
                    <a:t>, because</a:t>
                  </a:r>
                  <a:br>
                    <a:rPr lang="en-US" dirty="0">
                      <a:solidFill>
                        <a:schemeClr val="tx1"/>
                      </a:solidFill>
                    </a:rPr>
                  </a:br>
                  <a:r>
                    <a:rPr lang="en-US" dirty="0">
                      <a:solidFill>
                        <a:schemeClr val="tx1"/>
                      </a:solidFill>
                    </a:rPr>
                    <a:t>[blah blah blah]</a:t>
                  </a:r>
                </a:p>
              </p:txBody>
            </p:sp>
          </mc:Choice>
          <mc:Fallback xmlns="">
            <p:sp>
              <p:nvSpPr>
                <p:cNvPr id="7" name="Speech Bubble: Oval 6">
                  <a:extLst>
                    <a:ext uri="{FF2B5EF4-FFF2-40B4-BE49-F238E27FC236}">
                      <a16:creationId xmlns:a16="http://schemas.microsoft.com/office/drawing/2014/main" id="{8FA0319F-5692-0C35-341C-39C8C03E6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1093" y="4646757"/>
                  <a:ext cx="2551289" cy="966032"/>
                </a:xfrm>
                <a:prstGeom prst="wedgeEllipseCallout">
                  <a:avLst>
                    <a:gd name="adj1" fmla="val -60288"/>
                    <a:gd name="adj2" fmla="val 16281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Speech Bubble: Oval 7">
              <a:extLst>
                <a:ext uri="{FF2B5EF4-FFF2-40B4-BE49-F238E27FC236}">
                  <a16:creationId xmlns:a16="http://schemas.microsoft.com/office/drawing/2014/main" id="{C5EA117E-4262-6760-A34C-E03384598960}"/>
                </a:ext>
              </a:extLst>
            </p:cNvPr>
            <p:cNvSpPr/>
            <p:nvPr/>
          </p:nvSpPr>
          <p:spPr>
            <a:xfrm>
              <a:off x="4544226" y="5463483"/>
              <a:ext cx="2560271" cy="969433"/>
            </a:xfrm>
            <a:prstGeom prst="wedgeEllipseCallout">
              <a:avLst>
                <a:gd name="adj1" fmla="val 59988"/>
                <a:gd name="adj2" fmla="val -2573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Accept/Reject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DC52010-27D3-6697-B8DC-0083FE8F0EAD}"/>
              </a:ext>
            </a:extLst>
          </p:cNvPr>
          <p:cNvGrpSpPr/>
          <p:nvPr/>
        </p:nvGrpSpPr>
        <p:grpSpPr>
          <a:xfrm>
            <a:off x="7246787" y="5901630"/>
            <a:ext cx="509611" cy="432274"/>
            <a:chOff x="8387124" y="4858603"/>
            <a:chExt cx="1795202" cy="1522767"/>
          </a:xfrm>
        </p:grpSpPr>
        <p:pic>
          <p:nvPicPr>
            <p:cNvPr id="9" name="Picture 8" descr="A yellow sticky note on a black background&#10;&#10;AI-generated content may be incorrect.">
              <a:extLst>
                <a:ext uri="{FF2B5EF4-FFF2-40B4-BE49-F238E27FC236}">
                  <a16:creationId xmlns:a16="http://schemas.microsoft.com/office/drawing/2014/main" id="{AE99768E-4309-289D-C7D0-837B8AF4A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7124" y="5129883"/>
              <a:ext cx="1292857" cy="1251487"/>
            </a:xfrm>
            <a:prstGeom prst="rect">
              <a:avLst/>
            </a:prstGeom>
          </p:spPr>
        </p:pic>
        <p:pic>
          <p:nvPicPr>
            <p:cNvPr id="10" name="Picture 9" descr="A pencil with a red eraser&#10;&#10;AI-generated content may be incorrect.">
              <a:extLst>
                <a:ext uri="{FF2B5EF4-FFF2-40B4-BE49-F238E27FC236}">
                  <a16:creationId xmlns:a16="http://schemas.microsoft.com/office/drawing/2014/main" id="{3A683633-20F5-BE94-A8A9-EF3B8BC34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989675">
              <a:off x="8782425" y="4858603"/>
              <a:ext cx="1399902" cy="1399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328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EC0D24-ED60-79EF-2B08-A9C37363491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connectivity problem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EC0D24-ED60-79EF-2B08-A9C373634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FC33A-BEB0-61B1-66D1-E872EDF9E9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digraph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are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vertices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US" b="0" i="0" dirty="0">
                    <a:latin typeface="Cambria Math" panose="02040503050406030204" pitchFamily="18" charset="0"/>
                  </a:rPr>
                </a:br>
                <a:r>
                  <a:rPr lang="en-US" b="0" i="0" dirty="0">
                    <a:latin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there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directed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path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Claim: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Proof sketch:</a:t>
                </a:r>
                <a:r>
                  <a:rPr lang="en-US" dirty="0"/>
                  <a:t> Take a </a:t>
                </a:r>
                <a:r>
                  <a:rPr lang="en-US" dirty="0">
                    <a:solidFill>
                      <a:schemeClr val="accent1"/>
                    </a:solidFill>
                  </a:rPr>
                  <a:t>nondeterministic walk</a:t>
                </a:r>
                <a:r>
                  <a:rPr lang="en-US" dirty="0"/>
                  <a:t>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steps. If we ever reach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accept; otherwise, reject.</a:t>
                </a:r>
              </a:p>
              <a:p>
                <a:r>
                  <a:rPr lang="en-US" dirty="0"/>
                  <a:t>Verifier perspective: Certificate =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FC33A-BEB0-61B1-66D1-E872EDF9E9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87611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84385-0602-FB81-F0F7-AC8C2F8A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976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1C1492-9A66-BB7B-AE6C-293378ED645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Two surprises about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1C1492-9A66-BB7B-AE6C-293378ED64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9DC21-CC10-3DFA-1610-89459CD22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801230"/>
                <a:ext cx="10917382" cy="4689614"/>
              </a:xfrm>
            </p:spPr>
            <p:txBody>
              <a:bodyPr/>
              <a:lstStyle/>
              <a:p>
                <a:r>
                  <a:rPr lang="en-US" dirty="0"/>
                  <a:t>We expect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NP</m:t>
                    </m:r>
                  </m:oMath>
                </a14:m>
                <a:r>
                  <a:rPr lang="en-US" dirty="0"/>
                  <a:t>. In contrast:</a:t>
                </a:r>
              </a:p>
              <a:p>
                <a:pPr marL="0" indent="0">
                  <a:lnSpc>
                    <a:spcPct val="250000"/>
                  </a:lnSpc>
                  <a:buNone/>
                </a:pPr>
                <a:endParaRPr lang="en-US" dirty="0"/>
              </a:p>
              <a:p>
                <a:r>
                  <a:rPr lang="en-US" dirty="0"/>
                  <a:t>We expect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coNP</m:t>
                    </m:r>
                  </m:oMath>
                </a14:m>
                <a:r>
                  <a:rPr lang="en-US" dirty="0"/>
                  <a:t>. In contrast: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9DC21-CC10-3DFA-1610-89459CD22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801230"/>
                <a:ext cx="10917382" cy="4689614"/>
              </a:xfrm>
              <a:blipFill>
                <a:blip r:embed="rId3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64F77-306D-BA24-58DB-CD660566C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205F67-9CAF-342E-9651-FA876872E3FE}"/>
                  </a:ext>
                </a:extLst>
              </p:cNvPr>
              <p:cNvSpPr/>
              <p:nvPr/>
            </p:nvSpPr>
            <p:spPr>
              <a:xfrm>
                <a:off x="2641599" y="2762333"/>
                <a:ext cx="6908799" cy="8856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Savitch’s 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NL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4205F67-9CAF-342E-9651-FA876872E3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599" y="2762333"/>
                <a:ext cx="6908799" cy="8856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310738E-D785-A36C-5CE1-C551440D367D}"/>
                  </a:ext>
                </a:extLst>
              </p:cNvPr>
              <p:cNvSpPr/>
              <p:nvPr/>
            </p:nvSpPr>
            <p:spPr>
              <a:xfrm>
                <a:off x="2401454" y="4820132"/>
                <a:ext cx="7536874" cy="8856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Immerman-Szelepcsényi 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NL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coNL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310738E-D785-A36C-5CE1-C551440D3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454" y="4820132"/>
                <a:ext cx="7536874" cy="8856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29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rallelogram 7">
            <a:extLst>
              <a:ext uri="{FF2B5EF4-FFF2-40B4-BE49-F238E27FC236}">
                <a16:creationId xmlns:a16="http://schemas.microsoft.com/office/drawing/2014/main" id="{258BC7D4-D30F-1753-0B5F-80DBD7C91757}"/>
              </a:ext>
            </a:extLst>
          </p:cNvPr>
          <p:cNvSpPr/>
          <p:nvPr/>
        </p:nvSpPr>
        <p:spPr>
          <a:xfrm>
            <a:off x="1069823" y="3133247"/>
            <a:ext cx="7586647" cy="410886"/>
          </a:xfrm>
          <a:prstGeom prst="parallelogram">
            <a:avLst>
              <a:gd name="adj" fmla="val 911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0D20D-F12E-027A-FF47-864918DD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</a:t>
            </a:r>
            <a:r>
              <a:rPr lang="en-US" dirty="0" err="1"/>
              <a:t>Savitch’s</a:t>
            </a:r>
            <a:r>
              <a:rPr lang="en-US" dirty="0"/>
              <a:t>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92FA1-6019-875E-F1C5-1E7A34D86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37163"/>
                <a:ext cx="10515600" cy="3239799"/>
              </a:xfrm>
            </p:spPr>
            <p:txBody>
              <a:bodyPr/>
              <a:lstStyle/>
              <a:p>
                <a:r>
                  <a:rPr lang="en-US" dirty="0"/>
                  <a:t>Proof step 1: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Proof step 2: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</m:oMath>
                </a14:m>
                <a:r>
                  <a:rPr lang="en-US" dirty="0"/>
                  <a:t> is “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92FA1-6019-875E-F1C5-1E7A34D86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37163"/>
                <a:ext cx="10515600" cy="3239799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76CAC-8104-4E35-2F01-2BB63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D1550-AE08-3889-F019-48CA11870E93}"/>
                  </a:ext>
                </a:extLst>
              </p:cNvPr>
              <p:cNvSpPr/>
              <p:nvPr/>
            </p:nvSpPr>
            <p:spPr>
              <a:xfrm>
                <a:off x="2641600" y="1690688"/>
                <a:ext cx="6908799" cy="8856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Savitch’s 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NL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D1550-AE08-3889-F019-48CA11870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0" y="1690688"/>
                <a:ext cx="6908799" cy="885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730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0A94-111A-DC0E-48B4-7589B2103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552"/>
            <a:ext cx="10515600" cy="1325563"/>
          </a:xfrm>
        </p:spPr>
        <p:txBody>
          <a:bodyPr/>
          <a:lstStyle/>
          <a:p>
            <a:r>
              <a:rPr lang="en-US" dirty="0" err="1"/>
              <a:t>Savitch’s</a:t>
            </a:r>
            <a:r>
              <a:rPr lang="en-US" dirty="0"/>
              <a:t>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04D23-76AD-1542-5EFE-299028ECDF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091" y="1493115"/>
                <a:ext cx="11831781" cy="5101649"/>
              </a:xfrm>
            </p:spPr>
            <p:txBody>
              <a:bodyPr/>
              <a:lstStyle/>
              <a:p>
                <a:r>
                  <a:rPr lang="en-US" b="1" dirty="0"/>
                  <a:t>Claim (</a:t>
                </a:r>
                <a:r>
                  <a:rPr lang="en-US" b="1" dirty="0" err="1"/>
                  <a:t>Savitch’s</a:t>
                </a:r>
                <a:r>
                  <a:rPr lang="en-US" b="1" dirty="0"/>
                  <a:t> algorithm)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b="1" dirty="0"/>
              </a:p>
              <a:p>
                <a:r>
                  <a:rPr lang="en-US" b="1" dirty="0"/>
                  <a:t>Proof sketch: </a:t>
                </a:r>
                <a:r>
                  <a:rPr lang="en-US" dirty="0"/>
                  <a:t>Let’s figure out: is there a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of length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1371600" lvl="2" indent="-457200">
                  <a:buFont typeface="+mj-lt"/>
                  <a:buAutoNum type="alphaLcParenR"/>
                </a:pPr>
                <a:r>
                  <a:rPr lang="en-US" dirty="0">
                    <a:solidFill>
                      <a:schemeClr val="accent1"/>
                    </a:solidFill>
                  </a:rPr>
                  <a:t>Recursively</a:t>
                </a:r>
                <a:r>
                  <a:rPr lang="en-US" dirty="0"/>
                  <a:t> figure out whether there is a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of length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/>
              </a:p>
              <a:p>
                <a:pPr marL="1371600" lvl="2" indent="-457200">
                  <a:buFont typeface="+mj-lt"/>
                  <a:buAutoNum type="alphaLcParenR"/>
                </a:pPr>
                <a:r>
                  <a:rPr lang="en-US" dirty="0">
                    <a:solidFill>
                      <a:schemeClr val="accent1"/>
                    </a:solidFill>
                  </a:rPr>
                  <a:t>Recursively</a:t>
                </a:r>
                <a:r>
                  <a:rPr lang="en-US" dirty="0"/>
                  <a:t> figure out whether there is a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of length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/>
              </a:p>
              <a:p>
                <a:pPr marL="1371600" lvl="2" indent="-457200">
                  <a:buFont typeface="+mj-lt"/>
                  <a:buAutoNum type="alphaLcParenR"/>
                </a:pPr>
                <a:r>
                  <a:rPr lang="en-US" dirty="0"/>
                  <a:t>If </a:t>
                </a:r>
                <a:r>
                  <a:rPr lang="en-US" dirty="0">
                    <a:solidFill>
                      <a:schemeClr val="accent1"/>
                    </a:solidFill>
                  </a:rPr>
                  <a:t>both</a:t>
                </a:r>
                <a:r>
                  <a:rPr lang="en-US" dirty="0"/>
                  <a:t> such paths exist, halt and accept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Halt and reject</a:t>
                </a:r>
              </a:p>
              <a:p>
                <a:r>
                  <a:rPr lang="en-US" dirty="0"/>
                  <a:t>Space complexity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, which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204D23-76AD-1542-5EFE-299028ECDF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091" y="1493115"/>
                <a:ext cx="11831781" cy="5101649"/>
              </a:xfrm>
              <a:blipFill>
                <a:blip r:embed="rId2"/>
                <a:stretch>
                  <a:fillRect l="-927" b="-1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696A5-E542-513E-33A8-AABE1BE89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8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E957D0B7-9FF7-E1B0-DF3D-1B9147B872CE}"/>
              </a:ext>
            </a:extLst>
          </p:cNvPr>
          <p:cNvSpPr/>
          <p:nvPr/>
        </p:nvSpPr>
        <p:spPr>
          <a:xfrm>
            <a:off x="1003562" y="3901873"/>
            <a:ext cx="7586647" cy="410886"/>
          </a:xfrm>
          <a:prstGeom prst="parallelogram">
            <a:avLst>
              <a:gd name="adj" fmla="val 911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0D20D-F12E-027A-FF47-864918DD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</a:t>
            </a:r>
            <a:r>
              <a:rPr lang="en-US" dirty="0" err="1"/>
              <a:t>Savitch’s</a:t>
            </a:r>
            <a:r>
              <a:rPr lang="en-US" dirty="0"/>
              <a:t>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92FA1-6019-875E-F1C5-1E7A34D86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37163"/>
                <a:ext cx="10515600" cy="3239799"/>
              </a:xfrm>
            </p:spPr>
            <p:txBody>
              <a:bodyPr/>
              <a:lstStyle/>
              <a:p>
                <a:r>
                  <a:rPr lang="en-US" dirty="0"/>
                  <a:t>Proof step 1: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✔️</a:t>
                </a:r>
              </a:p>
              <a:p>
                <a:r>
                  <a:rPr lang="en-US" dirty="0"/>
                  <a:t>Proof step 2: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</m:oMath>
                </a14:m>
                <a:r>
                  <a:rPr lang="en-US" dirty="0"/>
                  <a:t> is “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92FA1-6019-875E-F1C5-1E7A34D86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37163"/>
                <a:ext cx="10515600" cy="3239799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76CAC-8104-4E35-2F01-2BB63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D1550-AE08-3889-F019-48CA11870E93}"/>
                  </a:ext>
                </a:extLst>
              </p:cNvPr>
              <p:cNvSpPr/>
              <p:nvPr/>
            </p:nvSpPr>
            <p:spPr>
              <a:xfrm>
                <a:off x="2641600" y="1690688"/>
                <a:ext cx="6908799" cy="8856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Savitch’s 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NL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D1550-AE08-3889-F019-48CA11870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0" y="1690688"/>
                <a:ext cx="6908799" cy="885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08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6D6F-1AA2-1346-E0B1-E63EC1E8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Log-space reductions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65FED7-27D1-CB5A-1148-04F528E60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367" y="1690688"/>
                <a:ext cx="11571668" cy="486465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prove </a:t>
                </a:r>
                <a:r>
                  <a:rPr lang="en-US" dirty="0" err="1"/>
                  <a:t>Savitch’s</a:t>
                </a:r>
                <a:r>
                  <a:rPr lang="en-US" dirty="0"/>
                  <a:t> theorem, we will use a </a:t>
                </a:r>
                <a:r>
                  <a:rPr lang="en-US" dirty="0">
                    <a:solidFill>
                      <a:schemeClr val="accent1"/>
                    </a:solidFill>
                  </a:rPr>
                  <a:t>new type of reduction</a:t>
                </a:r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b="1" dirty="0"/>
                  <a:t>Definition:</a:t>
                </a:r>
                <a:r>
                  <a:rPr lang="en-US" dirty="0"/>
                  <a:t> We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if there </a:t>
                </a:r>
                <a:r>
                  <a:rPr lang="en-US" dirty="0">
                    <a:solidFill>
                      <a:schemeClr val="tx1"/>
                    </a:solidFill>
                  </a:rPr>
                  <a:t>exists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such that</a:t>
                </a:r>
              </a:p>
              <a:p>
                <a:pPr lvl="1"/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	 		(“YES maps to YES”)</a:t>
                </a:r>
              </a:p>
              <a:p>
                <a:pPr lvl="1"/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	 		(“NO maps to NO”)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dirty="0"/>
                  <a:t> can be computed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space			</a:t>
                </a:r>
                <a:r>
                  <a:rPr lang="en-US" dirty="0"/>
                  <a:t>⬅ Definition on next slides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65FED7-27D1-CB5A-1148-04F528E60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367" y="1690688"/>
                <a:ext cx="11571668" cy="4864658"/>
              </a:xfrm>
              <a:blipFill>
                <a:blip r:embed="rId2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0E64B-A343-BBE7-6D9A-FAB211AB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373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832E-1997-D342-B523-9355CF7A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8"/>
            <a:ext cx="10515600" cy="1325563"/>
          </a:xfrm>
        </p:spPr>
        <p:txBody>
          <a:bodyPr/>
          <a:lstStyle/>
          <a:p>
            <a:r>
              <a:rPr lang="en-US" dirty="0"/>
              <a:t>Space-bounded “transducer”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18B0E-DC8B-9CB2-25EC-39B67A2B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19D6665-8966-7DBA-F0FD-7FCB61630B8B}"/>
              </a:ext>
            </a:extLst>
          </p:cNvPr>
          <p:cNvSpPr/>
          <p:nvPr/>
        </p:nvSpPr>
        <p:spPr>
          <a:xfrm>
            <a:off x="5222834" y="2936038"/>
            <a:ext cx="1548336" cy="2948659"/>
          </a:xfrm>
          <a:custGeom>
            <a:avLst/>
            <a:gdLst>
              <a:gd name="connsiteX0" fmla="*/ 2276272 w 2324068"/>
              <a:gd name="connsiteY0" fmla="*/ 0 h 360615"/>
              <a:gd name="connsiteX1" fmla="*/ 2023353 w 2324068"/>
              <a:gd name="connsiteY1" fmla="*/ 340469 h 360615"/>
              <a:gd name="connsiteX2" fmla="*/ 0 w 2324068"/>
              <a:gd name="connsiteY2" fmla="*/ 291830 h 360615"/>
              <a:gd name="connsiteX0" fmla="*/ 2276272 w 2283976"/>
              <a:gd name="connsiteY0" fmla="*/ 0 h 360615"/>
              <a:gd name="connsiteX1" fmla="*/ 1624519 w 2283976"/>
              <a:gd name="connsiteY1" fmla="*/ 340469 h 360615"/>
              <a:gd name="connsiteX2" fmla="*/ 0 w 2283976"/>
              <a:gd name="connsiteY2" fmla="*/ 291830 h 360615"/>
              <a:gd name="connsiteX0" fmla="*/ 2276272 w 2276272"/>
              <a:gd name="connsiteY0" fmla="*/ 0 h 360615"/>
              <a:gd name="connsiteX1" fmla="*/ 1624519 w 2276272"/>
              <a:gd name="connsiteY1" fmla="*/ 340469 h 360615"/>
              <a:gd name="connsiteX2" fmla="*/ 0 w 2276272"/>
              <a:gd name="connsiteY2" fmla="*/ 291830 h 360615"/>
              <a:gd name="connsiteX0" fmla="*/ 2276272 w 2276272"/>
              <a:gd name="connsiteY0" fmla="*/ 0 h 385604"/>
              <a:gd name="connsiteX1" fmla="*/ 1435675 w 2276272"/>
              <a:gd name="connsiteY1" fmla="*/ 370286 h 385604"/>
              <a:gd name="connsiteX2" fmla="*/ 0 w 2276272"/>
              <a:gd name="connsiteY2" fmla="*/ 291830 h 385604"/>
              <a:gd name="connsiteX0" fmla="*/ 1242602 w 1242602"/>
              <a:gd name="connsiteY0" fmla="*/ 0 h 1893171"/>
              <a:gd name="connsiteX1" fmla="*/ 402005 w 1242602"/>
              <a:gd name="connsiteY1" fmla="*/ 370286 h 1893171"/>
              <a:gd name="connsiteX2" fmla="*/ 0 w 1242602"/>
              <a:gd name="connsiteY2" fmla="*/ 1892030 h 1893171"/>
              <a:gd name="connsiteX0" fmla="*/ 1242602 w 1242602"/>
              <a:gd name="connsiteY0" fmla="*/ 0 h 1892030"/>
              <a:gd name="connsiteX1" fmla="*/ 402005 w 1242602"/>
              <a:gd name="connsiteY1" fmla="*/ 370286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823368 w 1580533"/>
              <a:gd name="connsiteY1" fmla="*/ 210280 h 1911909"/>
              <a:gd name="connsiteX2" fmla="*/ 0 w 1580533"/>
              <a:gd name="connsiteY2" fmla="*/ 1911909 h 1911909"/>
              <a:gd name="connsiteX0" fmla="*/ 1554776 w 1554776"/>
              <a:gd name="connsiteY0" fmla="*/ 0 h 2897143"/>
              <a:gd name="connsiteX1" fmla="*/ 797611 w 1554776"/>
              <a:gd name="connsiteY1" fmla="*/ 210280 h 2897143"/>
              <a:gd name="connsiteX2" fmla="*/ 0 w 1554776"/>
              <a:gd name="connsiteY2" fmla="*/ 2897143 h 2897143"/>
              <a:gd name="connsiteX0" fmla="*/ 1554776 w 1554776"/>
              <a:gd name="connsiteY0" fmla="*/ 0 h 2897143"/>
              <a:gd name="connsiteX1" fmla="*/ 797611 w 1554776"/>
              <a:gd name="connsiteY1" fmla="*/ 210280 h 2897143"/>
              <a:gd name="connsiteX2" fmla="*/ 0 w 1554776"/>
              <a:gd name="connsiteY2" fmla="*/ 2897143 h 2897143"/>
              <a:gd name="connsiteX0" fmla="*/ 1548336 w 1548336"/>
              <a:gd name="connsiteY0" fmla="*/ 0 h 2948659"/>
              <a:gd name="connsiteX1" fmla="*/ 791171 w 1548336"/>
              <a:gd name="connsiteY1" fmla="*/ 210280 h 2948659"/>
              <a:gd name="connsiteX2" fmla="*/ 0 w 1548336"/>
              <a:gd name="connsiteY2" fmla="*/ 2948659 h 2948659"/>
              <a:gd name="connsiteX0" fmla="*/ 1548336 w 1548336"/>
              <a:gd name="connsiteY0" fmla="*/ 0 h 2948659"/>
              <a:gd name="connsiteX1" fmla="*/ 753071 w 1548336"/>
              <a:gd name="connsiteY1" fmla="*/ 1035780 h 2948659"/>
              <a:gd name="connsiteX2" fmla="*/ 0 w 1548336"/>
              <a:gd name="connsiteY2" fmla="*/ 2948659 h 2948659"/>
              <a:gd name="connsiteX0" fmla="*/ 1548336 w 1548336"/>
              <a:gd name="connsiteY0" fmla="*/ 0 h 2948659"/>
              <a:gd name="connsiteX1" fmla="*/ 0 w 1548336"/>
              <a:gd name="connsiteY1" fmla="*/ 2948659 h 2948659"/>
              <a:gd name="connsiteX0" fmla="*/ 1548336 w 1548336"/>
              <a:gd name="connsiteY0" fmla="*/ 0 h 2948659"/>
              <a:gd name="connsiteX1" fmla="*/ 0 w 1548336"/>
              <a:gd name="connsiteY1" fmla="*/ 2948659 h 2948659"/>
              <a:gd name="connsiteX0" fmla="*/ 1548336 w 1548336"/>
              <a:gd name="connsiteY0" fmla="*/ 0 h 2948659"/>
              <a:gd name="connsiteX1" fmla="*/ 0 w 1548336"/>
              <a:gd name="connsiteY1" fmla="*/ 2948659 h 2948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8336" h="2948659">
                <a:moveTo>
                  <a:pt x="1548336" y="0"/>
                </a:moveTo>
                <a:cubicBezTo>
                  <a:pt x="1489424" y="995586"/>
                  <a:pt x="592312" y="2245173"/>
                  <a:pt x="0" y="2948659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BD1D8FA3-73F4-54C8-04C0-17CF96F2087E}"/>
              </a:ext>
            </a:extLst>
          </p:cNvPr>
          <p:cNvSpPr/>
          <p:nvPr/>
        </p:nvSpPr>
        <p:spPr>
          <a:xfrm>
            <a:off x="4849318" y="5803936"/>
            <a:ext cx="603113" cy="623191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85A54E01-8A33-2278-29B0-9D5EC95FD9F0}"/>
              </a:ext>
            </a:extLst>
          </p:cNvPr>
          <p:cNvSpPr/>
          <p:nvPr/>
        </p:nvSpPr>
        <p:spPr>
          <a:xfrm>
            <a:off x="5295541" y="6282471"/>
            <a:ext cx="6370829" cy="451174"/>
          </a:xfrm>
          <a:custGeom>
            <a:avLst/>
            <a:gdLst>
              <a:gd name="connsiteX0" fmla="*/ 4192622 w 4429764"/>
              <a:gd name="connsiteY0" fmla="*/ 1712068 h 2024265"/>
              <a:gd name="connsiteX1" fmla="*/ 4085617 w 4429764"/>
              <a:gd name="connsiteY1" fmla="*/ 2023353 h 2024265"/>
              <a:gd name="connsiteX2" fmla="*/ 894945 w 4429764"/>
              <a:gd name="connsiteY2" fmla="*/ 1624519 h 2024265"/>
              <a:gd name="connsiteX3" fmla="*/ 1342417 w 4429764"/>
              <a:gd name="connsiteY3" fmla="*/ 379379 h 2024265"/>
              <a:gd name="connsiteX4" fmla="*/ 0 w 4429764"/>
              <a:gd name="connsiteY4" fmla="*/ 0 h 2024265"/>
              <a:gd name="connsiteX0" fmla="*/ 4192622 w 4232318"/>
              <a:gd name="connsiteY0" fmla="*/ 1712068 h 1995260"/>
              <a:gd name="connsiteX1" fmla="*/ 3112851 w 4232318"/>
              <a:gd name="connsiteY1" fmla="*/ 1994170 h 1995260"/>
              <a:gd name="connsiteX2" fmla="*/ 894945 w 4232318"/>
              <a:gd name="connsiteY2" fmla="*/ 1624519 h 1995260"/>
              <a:gd name="connsiteX3" fmla="*/ 1342417 w 4232318"/>
              <a:gd name="connsiteY3" fmla="*/ 379379 h 1995260"/>
              <a:gd name="connsiteX4" fmla="*/ 0 w 4232318"/>
              <a:gd name="connsiteY4" fmla="*/ 0 h 1995260"/>
              <a:gd name="connsiteX0" fmla="*/ 4192622 w 4192622"/>
              <a:gd name="connsiteY0" fmla="*/ 1712068 h 1996589"/>
              <a:gd name="connsiteX1" fmla="*/ 3112851 w 4192622"/>
              <a:gd name="connsiteY1" fmla="*/ 1994170 h 1996589"/>
              <a:gd name="connsiteX2" fmla="*/ 894945 w 4192622"/>
              <a:gd name="connsiteY2" fmla="*/ 1624519 h 1996589"/>
              <a:gd name="connsiteX3" fmla="*/ 1342417 w 4192622"/>
              <a:gd name="connsiteY3" fmla="*/ 379379 h 1996589"/>
              <a:gd name="connsiteX4" fmla="*/ 0 w 4192622"/>
              <a:gd name="connsiteY4" fmla="*/ 0 h 1996589"/>
              <a:gd name="connsiteX0" fmla="*/ 4192622 w 4192622"/>
              <a:gd name="connsiteY0" fmla="*/ 1712068 h 1996589"/>
              <a:gd name="connsiteX1" fmla="*/ 2782111 w 4192622"/>
              <a:gd name="connsiteY1" fmla="*/ 1994170 h 1996589"/>
              <a:gd name="connsiteX2" fmla="*/ 894945 w 4192622"/>
              <a:gd name="connsiteY2" fmla="*/ 1624519 h 1996589"/>
              <a:gd name="connsiteX3" fmla="*/ 1342417 w 4192622"/>
              <a:gd name="connsiteY3" fmla="*/ 379379 h 1996589"/>
              <a:gd name="connsiteX4" fmla="*/ 0 w 4192622"/>
              <a:gd name="connsiteY4" fmla="*/ 0 h 1996589"/>
              <a:gd name="connsiteX0" fmla="*/ 4192622 w 4192622"/>
              <a:gd name="connsiteY0" fmla="*/ 1712068 h 1994420"/>
              <a:gd name="connsiteX1" fmla="*/ 2782111 w 4192622"/>
              <a:gd name="connsiteY1" fmla="*/ 1994170 h 1994420"/>
              <a:gd name="connsiteX2" fmla="*/ 1034093 w 4192622"/>
              <a:gd name="connsiteY2" fmla="*/ 1723910 h 1994420"/>
              <a:gd name="connsiteX3" fmla="*/ 1342417 w 4192622"/>
              <a:gd name="connsiteY3" fmla="*/ 379379 h 1994420"/>
              <a:gd name="connsiteX4" fmla="*/ 0 w 4192622"/>
              <a:gd name="connsiteY4" fmla="*/ 0 h 1994420"/>
              <a:gd name="connsiteX0" fmla="*/ 4192622 w 4192622"/>
              <a:gd name="connsiteY0" fmla="*/ 1712068 h 1999620"/>
              <a:gd name="connsiteX1" fmla="*/ 2782111 w 4192622"/>
              <a:gd name="connsiteY1" fmla="*/ 1994170 h 1999620"/>
              <a:gd name="connsiteX2" fmla="*/ 1034093 w 4192622"/>
              <a:gd name="connsiteY2" fmla="*/ 1723910 h 1999620"/>
              <a:gd name="connsiteX3" fmla="*/ 0 w 4192622"/>
              <a:gd name="connsiteY3" fmla="*/ 0 h 1999620"/>
              <a:gd name="connsiteX0" fmla="*/ 3158529 w 3158529"/>
              <a:gd name="connsiteY0" fmla="*/ 0 h 287552"/>
              <a:gd name="connsiteX1" fmla="*/ 1748018 w 3158529"/>
              <a:gd name="connsiteY1" fmla="*/ 282102 h 287552"/>
              <a:gd name="connsiteX2" fmla="*/ 0 w 3158529"/>
              <a:gd name="connsiteY2" fmla="*/ 11842 h 287552"/>
              <a:gd name="connsiteX0" fmla="*/ 3128712 w 3128712"/>
              <a:gd name="connsiteY0" fmla="*/ 0 h 300583"/>
              <a:gd name="connsiteX1" fmla="*/ 1718201 w 3128712"/>
              <a:gd name="connsiteY1" fmla="*/ 282102 h 300583"/>
              <a:gd name="connsiteX2" fmla="*/ 0 w 3128712"/>
              <a:gd name="connsiteY2" fmla="*/ 51598 h 300583"/>
              <a:gd name="connsiteX0" fmla="*/ 3128712 w 3128712"/>
              <a:gd name="connsiteY0" fmla="*/ 0 h 51598"/>
              <a:gd name="connsiteX1" fmla="*/ 0 w 3128712"/>
              <a:gd name="connsiteY1" fmla="*/ 51598 h 51598"/>
              <a:gd name="connsiteX0" fmla="*/ 3128712 w 3128712"/>
              <a:gd name="connsiteY0" fmla="*/ 0 h 264978"/>
              <a:gd name="connsiteX1" fmla="*/ 0 w 3128712"/>
              <a:gd name="connsiteY1" fmla="*/ 51598 h 264978"/>
              <a:gd name="connsiteX0" fmla="*/ 3128712 w 3128712"/>
              <a:gd name="connsiteY0" fmla="*/ 0 h 377356"/>
              <a:gd name="connsiteX1" fmla="*/ 0 w 3128712"/>
              <a:gd name="connsiteY1" fmla="*/ 51598 h 377356"/>
              <a:gd name="connsiteX0" fmla="*/ 3466643 w 3466643"/>
              <a:gd name="connsiteY0" fmla="*/ 0 h 364082"/>
              <a:gd name="connsiteX1" fmla="*/ 0 w 3466643"/>
              <a:gd name="connsiteY1" fmla="*/ 21781 h 364082"/>
              <a:gd name="connsiteX0" fmla="*/ 6351511 w 6351511"/>
              <a:gd name="connsiteY0" fmla="*/ 139205 h 442451"/>
              <a:gd name="connsiteX1" fmla="*/ 0 w 6351511"/>
              <a:gd name="connsiteY1" fmla="*/ 0 h 442451"/>
              <a:gd name="connsiteX0" fmla="*/ 6370829 w 6370829"/>
              <a:gd name="connsiteY0" fmla="*/ 152084 h 451174"/>
              <a:gd name="connsiteX1" fmla="*/ 0 w 6370829"/>
              <a:gd name="connsiteY1" fmla="*/ 0 h 451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70829" h="451174">
                <a:moveTo>
                  <a:pt x="6370829" y="152084"/>
                </a:moveTo>
                <a:cubicBezTo>
                  <a:pt x="6242325" y="725874"/>
                  <a:pt x="784487" y="360488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5A5B4C-A20B-B060-2A56-B114B3C9258D}"/>
              </a:ext>
            </a:extLst>
          </p:cNvPr>
          <p:cNvSpPr txBox="1"/>
          <p:nvPr/>
        </p:nvSpPr>
        <p:spPr>
          <a:xfrm>
            <a:off x="816307" y="1612206"/>
            <a:ext cx="3910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Read-only input tape ➡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0D6FDB-20FB-EBF2-E7EA-A4F45A7685C1}"/>
              </a:ext>
            </a:extLst>
          </p:cNvPr>
          <p:cNvSpPr txBox="1"/>
          <p:nvPr/>
        </p:nvSpPr>
        <p:spPr>
          <a:xfrm>
            <a:off x="733765" y="3410388"/>
            <a:ext cx="39353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Read-write work tape ➡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57F02B-0449-26EE-0806-EA14173ED0A7}"/>
              </a:ext>
            </a:extLst>
          </p:cNvPr>
          <p:cNvSpPr txBox="1"/>
          <p:nvPr/>
        </p:nvSpPr>
        <p:spPr>
          <a:xfrm>
            <a:off x="592828" y="5080117"/>
            <a:ext cx="4156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Write-only output tape </a:t>
            </a:r>
            <a:r>
              <a:rPr lang="en-US" sz="2800" dirty="0"/>
              <a:t>➡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873A82F-EC7C-C2E5-94CD-0878BD9ABAF5}"/>
              </a:ext>
            </a:extLst>
          </p:cNvPr>
          <p:cNvSpPr/>
          <p:nvPr/>
        </p:nvSpPr>
        <p:spPr>
          <a:xfrm>
            <a:off x="5335210" y="4686278"/>
            <a:ext cx="3306303" cy="1287283"/>
          </a:xfrm>
          <a:custGeom>
            <a:avLst/>
            <a:gdLst>
              <a:gd name="connsiteX0" fmla="*/ 2276272 w 2324068"/>
              <a:gd name="connsiteY0" fmla="*/ 0 h 360615"/>
              <a:gd name="connsiteX1" fmla="*/ 2023353 w 2324068"/>
              <a:gd name="connsiteY1" fmla="*/ 340469 h 360615"/>
              <a:gd name="connsiteX2" fmla="*/ 0 w 2324068"/>
              <a:gd name="connsiteY2" fmla="*/ 291830 h 360615"/>
              <a:gd name="connsiteX0" fmla="*/ 2276272 w 2283976"/>
              <a:gd name="connsiteY0" fmla="*/ 0 h 360615"/>
              <a:gd name="connsiteX1" fmla="*/ 1624519 w 2283976"/>
              <a:gd name="connsiteY1" fmla="*/ 340469 h 360615"/>
              <a:gd name="connsiteX2" fmla="*/ 0 w 2283976"/>
              <a:gd name="connsiteY2" fmla="*/ 291830 h 360615"/>
              <a:gd name="connsiteX0" fmla="*/ 2276272 w 2276272"/>
              <a:gd name="connsiteY0" fmla="*/ 0 h 360615"/>
              <a:gd name="connsiteX1" fmla="*/ 1624519 w 2276272"/>
              <a:gd name="connsiteY1" fmla="*/ 340469 h 360615"/>
              <a:gd name="connsiteX2" fmla="*/ 0 w 2276272"/>
              <a:gd name="connsiteY2" fmla="*/ 291830 h 360615"/>
              <a:gd name="connsiteX0" fmla="*/ 2276272 w 2276272"/>
              <a:gd name="connsiteY0" fmla="*/ 0 h 385604"/>
              <a:gd name="connsiteX1" fmla="*/ 1435675 w 2276272"/>
              <a:gd name="connsiteY1" fmla="*/ 370286 h 385604"/>
              <a:gd name="connsiteX2" fmla="*/ 0 w 2276272"/>
              <a:gd name="connsiteY2" fmla="*/ 291830 h 385604"/>
              <a:gd name="connsiteX0" fmla="*/ 1242602 w 1242602"/>
              <a:gd name="connsiteY0" fmla="*/ 0 h 1893171"/>
              <a:gd name="connsiteX1" fmla="*/ 402005 w 1242602"/>
              <a:gd name="connsiteY1" fmla="*/ 370286 h 1893171"/>
              <a:gd name="connsiteX2" fmla="*/ 0 w 1242602"/>
              <a:gd name="connsiteY2" fmla="*/ 1892030 h 1893171"/>
              <a:gd name="connsiteX0" fmla="*/ 1242602 w 1242602"/>
              <a:gd name="connsiteY0" fmla="*/ 0 h 1892030"/>
              <a:gd name="connsiteX1" fmla="*/ 402005 w 1242602"/>
              <a:gd name="connsiteY1" fmla="*/ 370286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570970 w 1242602"/>
              <a:gd name="connsiteY1" fmla="*/ 439860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242602 w 1242602"/>
              <a:gd name="connsiteY0" fmla="*/ 0 h 1892030"/>
              <a:gd name="connsiteX1" fmla="*/ 620666 w 1242602"/>
              <a:gd name="connsiteY1" fmla="*/ 519373 h 1892030"/>
              <a:gd name="connsiteX2" fmla="*/ 0 w 1242602"/>
              <a:gd name="connsiteY2" fmla="*/ 1892030 h 1892030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958597 w 1580533"/>
              <a:gd name="connsiteY1" fmla="*/ 519373 h 1911909"/>
              <a:gd name="connsiteX2" fmla="*/ 0 w 1580533"/>
              <a:gd name="connsiteY2" fmla="*/ 1911909 h 1911909"/>
              <a:gd name="connsiteX0" fmla="*/ 1580533 w 1580533"/>
              <a:gd name="connsiteY0" fmla="*/ 0 h 1911909"/>
              <a:gd name="connsiteX1" fmla="*/ 823368 w 1580533"/>
              <a:gd name="connsiteY1" fmla="*/ 210280 h 1911909"/>
              <a:gd name="connsiteX2" fmla="*/ 0 w 1580533"/>
              <a:gd name="connsiteY2" fmla="*/ 1911909 h 1911909"/>
              <a:gd name="connsiteX0" fmla="*/ 1554776 w 1554776"/>
              <a:gd name="connsiteY0" fmla="*/ 0 h 2897143"/>
              <a:gd name="connsiteX1" fmla="*/ 797611 w 1554776"/>
              <a:gd name="connsiteY1" fmla="*/ 210280 h 2897143"/>
              <a:gd name="connsiteX2" fmla="*/ 0 w 1554776"/>
              <a:gd name="connsiteY2" fmla="*/ 2897143 h 2897143"/>
              <a:gd name="connsiteX0" fmla="*/ 1554776 w 1554776"/>
              <a:gd name="connsiteY0" fmla="*/ 0 h 2897143"/>
              <a:gd name="connsiteX1" fmla="*/ 797611 w 1554776"/>
              <a:gd name="connsiteY1" fmla="*/ 210280 h 2897143"/>
              <a:gd name="connsiteX2" fmla="*/ 0 w 1554776"/>
              <a:gd name="connsiteY2" fmla="*/ 2897143 h 2897143"/>
              <a:gd name="connsiteX0" fmla="*/ 2739813 w 2739813"/>
              <a:gd name="connsiteY0" fmla="*/ 100748 h 2997891"/>
              <a:gd name="connsiteX1" fmla="*/ 50817 w 2739813"/>
              <a:gd name="connsiteY1" fmla="*/ 14814 h 2997891"/>
              <a:gd name="connsiteX2" fmla="*/ 1185037 w 2739813"/>
              <a:gd name="connsiteY2" fmla="*/ 2997891 h 2997891"/>
              <a:gd name="connsiteX0" fmla="*/ 2656101 w 2656101"/>
              <a:gd name="connsiteY0" fmla="*/ 119513 h 2997337"/>
              <a:gd name="connsiteX1" fmla="*/ 50817 w 2656101"/>
              <a:gd name="connsiteY1" fmla="*/ 14260 h 2997337"/>
              <a:gd name="connsiteX2" fmla="*/ 1185037 w 2656101"/>
              <a:gd name="connsiteY2" fmla="*/ 2997337 h 2997337"/>
              <a:gd name="connsiteX0" fmla="*/ 2656101 w 2656101"/>
              <a:gd name="connsiteY0" fmla="*/ 116412 h 2994236"/>
              <a:gd name="connsiteX1" fmla="*/ 50817 w 2656101"/>
              <a:gd name="connsiteY1" fmla="*/ 11159 h 2994236"/>
              <a:gd name="connsiteX2" fmla="*/ 1185037 w 2656101"/>
              <a:gd name="connsiteY2" fmla="*/ 2994236 h 2994236"/>
              <a:gd name="connsiteX0" fmla="*/ 3306303 w 3306303"/>
              <a:gd name="connsiteY0" fmla="*/ 116412 h 1403695"/>
              <a:gd name="connsiteX1" fmla="*/ 701019 w 3306303"/>
              <a:gd name="connsiteY1" fmla="*/ 11159 h 1403695"/>
              <a:gd name="connsiteX2" fmla="*/ 0 w 3306303"/>
              <a:gd name="connsiteY2" fmla="*/ 1403695 h 1403695"/>
              <a:gd name="connsiteX0" fmla="*/ 3306303 w 3306303"/>
              <a:gd name="connsiteY0" fmla="*/ 116412 h 1403695"/>
              <a:gd name="connsiteX1" fmla="*/ 701019 w 3306303"/>
              <a:gd name="connsiteY1" fmla="*/ 11159 h 1403695"/>
              <a:gd name="connsiteX2" fmla="*/ 0 w 3306303"/>
              <a:gd name="connsiteY2" fmla="*/ 1403695 h 1403695"/>
              <a:gd name="connsiteX0" fmla="*/ 3306303 w 3306303"/>
              <a:gd name="connsiteY0" fmla="*/ 0 h 1287283"/>
              <a:gd name="connsiteX1" fmla="*/ 1805919 w 3306303"/>
              <a:gd name="connsiteY1" fmla="*/ 694847 h 1287283"/>
              <a:gd name="connsiteX2" fmla="*/ 0 w 3306303"/>
              <a:gd name="connsiteY2" fmla="*/ 1287283 h 1287283"/>
              <a:gd name="connsiteX0" fmla="*/ 3306303 w 3306303"/>
              <a:gd name="connsiteY0" fmla="*/ 0 h 1287283"/>
              <a:gd name="connsiteX1" fmla="*/ 1805919 w 3306303"/>
              <a:gd name="connsiteY1" fmla="*/ 694847 h 1287283"/>
              <a:gd name="connsiteX2" fmla="*/ 0 w 3306303"/>
              <a:gd name="connsiteY2" fmla="*/ 1287283 h 1287283"/>
              <a:gd name="connsiteX0" fmla="*/ 3306303 w 3306303"/>
              <a:gd name="connsiteY0" fmla="*/ 0 h 1287283"/>
              <a:gd name="connsiteX1" fmla="*/ 0 w 3306303"/>
              <a:gd name="connsiteY1" fmla="*/ 1287283 h 1287283"/>
              <a:gd name="connsiteX0" fmla="*/ 3306303 w 3306303"/>
              <a:gd name="connsiteY0" fmla="*/ 0 h 1287283"/>
              <a:gd name="connsiteX1" fmla="*/ 0 w 3306303"/>
              <a:gd name="connsiteY1" fmla="*/ 1287283 h 1287283"/>
              <a:gd name="connsiteX0" fmla="*/ 3306303 w 3306303"/>
              <a:gd name="connsiteY0" fmla="*/ 0 h 1287283"/>
              <a:gd name="connsiteX1" fmla="*/ 0 w 3306303"/>
              <a:gd name="connsiteY1" fmla="*/ 1287283 h 128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06303" h="1287283">
                <a:moveTo>
                  <a:pt x="3306303" y="0"/>
                </a:moveTo>
                <a:cubicBezTo>
                  <a:pt x="3232902" y="644994"/>
                  <a:pt x="873501" y="629589"/>
                  <a:pt x="0" y="1287283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F5C91D7-2F50-CEE9-1C78-A2B039F50518}"/>
              </a:ext>
            </a:extLst>
          </p:cNvPr>
          <p:cNvCxnSpPr/>
          <p:nvPr/>
        </p:nvCxnSpPr>
        <p:spPr>
          <a:xfrm>
            <a:off x="6211184" y="1330423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D48BE62-6197-43E8-A0ED-4C74B3268D9D}"/>
              </a:ext>
            </a:extLst>
          </p:cNvPr>
          <p:cNvCxnSpPr>
            <a:cxnSpLocks/>
          </p:cNvCxnSpPr>
          <p:nvPr/>
        </p:nvCxnSpPr>
        <p:spPr>
          <a:xfrm>
            <a:off x="5499249" y="1351688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8EEA756-C9C4-CE3E-D113-397AD22EE97E}"/>
              </a:ext>
            </a:extLst>
          </p:cNvPr>
          <p:cNvCxnSpPr/>
          <p:nvPr/>
        </p:nvCxnSpPr>
        <p:spPr>
          <a:xfrm>
            <a:off x="7171659" y="1351688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A7CC60B-79C9-233E-5BAC-C11CB8FFFD86}"/>
              </a:ext>
            </a:extLst>
          </p:cNvPr>
          <p:cNvCxnSpPr/>
          <p:nvPr/>
        </p:nvCxnSpPr>
        <p:spPr>
          <a:xfrm>
            <a:off x="8149854" y="1351688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715423A-D8BB-22C1-C875-DEE3D0B769BC}"/>
              </a:ext>
            </a:extLst>
          </p:cNvPr>
          <p:cNvCxnSpPr/>
          <p:nvPr/>
        </p:nvCxnSpPr>
        <p:spPr>
          <a:xfrm>
            <a:off x="9106784" y="1351688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8DB05D0-3CEF-B4D9-71ED-60161D115560}"/>
              </a:ext>
            </a:extLst>
          </p:cNvPr>
          <p:cNvCxnSpPr/>
          <p:nvPr/>
        </p:nvCxnSpPr>
        <p:spPr>
          <a:xfrm>
            <a:off x="10074347" y="1330423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4870128-1C71-F13D-26C4-BA0892605069}"/>
              </a:ext>
            </a:extLst>
          </p:cNvPr>
          <p:cNvCxnSpPr/>
          <p:nvPr/>
        </p:nvCxnSpPr>
        <p:spPr>
          <a:xfrm>
            <a:off x="11084440" y="1330423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2AD0934-2F06-E42B-126D-69D9898A1227}"/>
              </a:ext>
            </a:extLst>
          </p:cNvPr>
          <p:cNvCxnSpPr/>
          <p:nvPr/>
        </p:nvCxnSpPr>
        <p:spPr>
          <a:xfrm>
            <a:off x="12030737" y="1351688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6076227-480A-87B0-114C-40326C931393}"/>
              </a:ext>
            </a:extLst>
          </p:cNvPr>
          <p:cNvGrpSpPr/>
          <p:nvPr/>
        </p:nvGrpSpPr>
        <p:grpSpPr>
          <a:xfrm>
            <a:off x="7416211" y="1543136"/>
            <a:ext cx="2381690" cy="592290"/>
            <a:chOff x="7432162" y="893197"/>
            <a:chExt cx="2381690" cy="592290"/>
          </a:xfrm>
        </p:grpSpPr>
        <p:sp>
          <p:nvSpPr>
            <p:cNvPr id="70" name="A0">
              <a:extLst>
                <a:ext uri="{FF2B5EF4-FFF2-40B4-BE49-F238E27FC236}">
                  <a16:creationId xmlns:a16="http://schemas.microsoft.com/office/drawing/2014/main" id="{4FA98F45-99A4-7E4A-C667-FA2B3F67E4CC}"/>
                </a:ext>
              </a:extLst>
            </p:cNvPr>
            <p:cNvSpPr txBox="1"/>
            <p:nvPr/>
          </p:nvSpPr>
          <p:spPr>
            <a:xfrm>
              <a:off x="7432162" y="893197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71" name="B1">
              <a:extLst>
                <a:ext uri="{FF2B5EF4-FFF2-40B4-BE49-F238E27FC236}">
                  <a16:creationId xmlns:a16="http://schemas.microsoft.com/office/drawing/2014/main" id="{B90D0E60-CA0F-8925-CDA3-A75DBF738F19}"/>
                </a:ext>
              </a:extLst>
            </p:cNvPr>
            <p:cNvSpPr txBox="1"/>
            <p:nvPr/>
          </p:nvSpPr>
          <p:spPr>
            <a:xfrm>
              <a:off x="8378458" y="893198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72" name="C1">
              <a:extLst>
                <a:ext uri="{FF2B5EF4-FFF2-40B4-BE49-F238E27FC236}">
                  <a16:creationId xmlns:a16="http://schemas.microsoft.com/office/drawing/2014/main" id="{FFE0C3BA-4BCB-014A-93D9-BB1DFD11D794}"/>
                </a:ext>
              </a:extLst>
            </p:cNvPr>
            <p:cNvSpPr txBox="1"/>
            <p:nvPr/>
          </p:nvSpPr>
          <p:spPr>
            <a:xfrm>
              <a:off x="9282225" y="900712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0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1">
                <a:extLst>
                  <a:ext uri="{FF2B5EF4-FFF2-40B4-BE49-F238E27FC236}">
                    <a16:creationId xmlns:a16="http://schemas.microsoft.com/office/drawing/2014/main" id="{A4350310-25E4-D81D-76B4-2E7EA3C0E028}"/>
                  </a:ext>
                </a:extLst>
              </p:cNvPr>
              <p:cNvSpPr txBox="1"/>
              <p:nvPr/>
            </p:nvSpPr>
            <p:spPr>
              <a:xfrm>
                <a:off x="10345479" y="1559085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C1">
                <a:extLst>
                  <a:ext uri="{FF2B5EF4-FFF2-40B4-BE49-F238E27FC236}">
                    <a16:creationId xmlns:a16="http://schemas.microsoft.com/office/drawing/2014/main" id="{A4350310-25E4-D81D-76B4-2E7EA3C0E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5479" y="1559085"/>
                <a:ext cx="531627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1">
                <a:extLst>
                  <a:ext uri="{FF2B5EF4-FFF2-40B4-BE49-F238E27FC236}">
                    <a16:creationId xmlns:a16="http://schemas.microsoft.com/office/drawing/2014/main" id="{70262B54-58C5-F9BE-6AF1-20A00E718B3A}"/>
                  </a:ext>
                </a:extLst>
              </p:cNvPr>
              <p:cNvSpPr txBox="1"/>
              <p:nvPr/>
            </p:nvSpPr>
            <p:spPr>
              <a:xfrm>
                <a:off x="11345346" y="1546129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C1">
                <a:extLst>
                  <a:ext uri="{FF2B5EF4-FFF2-40B4-BE49-F238E27FC236}">
                    <a16:creationId xmlns:a16="http://schemas.microsoft.com/office/drawing/2014/main" id="{70262B54-58C5-F9BE-6AF1-20A00E718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346" y="1546129"/>
                <a:ext cx="53162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A0">
            <a:extLst>
              <a:ext uri="{FF2B5EF4-FFF2-40B4-BE49-F238E27FC236}">
                <a16:creationId xmlns:a16="http://schemas.microsoft.com/office/drawing/2014/main" id="{4E35312F-E22B-2ED0-9166-F49AB5230A72}"/>
              </a:ext>
            </a:extLst>
          </p:cNvPr>
          <p:cNvSpPr txBox="1"/>
          <p:nvPr/>
        </p:nvSpPr>
        <p:spPr>
          <a:xfrm>
            <a:off x="6455736" y="1543136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1">
                <a:extLst>
                  <a:ext uri="{FF2B5EF4-FFF2-40B4-BE49-F238E27FC236}">
                    <a16:creationId xmlns:a16="http://schemas.microsoft.com/office/drawing/2014/main" id="{1E9565F8-C733-1FF0-7432-4E0BC1313749}"/>
                  </a:ext>
                </a:extLst>
              </p:cNvPr>
              <p:cNvSpPr txBox="1"/>
              <p:nvPr/>
            </p:nvSpPr>
            <p:spPr>
              <a:xfrm>
                <a:off x="5514753" y="1537094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C1">
                <a:extLst>
                  <a:ext uri="{FF2B5EF4-FFF2-40B4-BE49-F238E27FC236}">
                    <a16:creationId xmlns:a16="http://schemas.microsoft.com/office/drawing/2014/main" id="{1E9565F8-C733-1FF0-7432-4E0BC1313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753" y="1537094"/>
                <a:ext cx="53162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A4DC1C4-1C21-FBF2-EE56-ABDAAEB18E50}"/>
              </a:ext>
            </a:extLst>
          </p:cNvPr>
          <p:cNvCxnSpPr>
            <a:cxnSpLocks/>
          </p:cNvCxnSpPr>
          <p:nvPr/>
        </p:nvCxnSpPr>
        <p:spPr>
          <a:xfrm>
            <a:off x="5499249" y="2348288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853927B6-BB16-7182-5F71-9AB79FD2A34B}"/>
              </a:ext>
            </a:extLst>
          </p:cNvPr>
          <p:cNvSpPr/>
          <p:nvPr/>
        </p:nvSpPr>
        <p:spPr>
          <a:xfrm>
            <a:off x="6315741" y="2208688"/>
            <a:ext cx="832882" cy="729030"/>
          </a:xfrm>
          <a:prstGeom prst="triangle">
            <a:avLst/>
          </a:prstGeom>
          <a:solidFill>
            <a:srgbClr val="00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E5FC637-3BAD-63D6-46A9-7C17A57F3925}"/>
              </a:ext>
            </a:extLst>
          </p:cNvPr>
          <p:cNvCxnSpPr/>
          <p:nvPr/>
        </p:nvCxnSpPr>
        <p:spPr>
          <a:xfrm>
            <a:off x="6211184" y="3097480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62FD176-423F-11F4-5A2C-7207E7AD5B07}"/>
              </a:ext>
            </a:extLst>
          </p:cNvPr>
          <p:cNvCxnSpPr>
            <a:cxnSpLocks/>
          </p:cNvCxnSpPr>
          <p:nvPr/>
        </p:nvCxnSpPr>
        <p:spPr>
          <a:xfrm>
            <a:off x="5499249" y="3118745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03E6AF9-E220-A927-A217-89A98DA4A475}"/>
              </a:ext>
            </a:extLst>
          </p:cNvPr>
          <p:cNvCxnSpPr/>
          <p:nvPr/>
        </p:nvCxnSpPr>
        <p:spPr>
          <a:xfrm>
            <a:off x="7171659" y="3118745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2B47672-A9B0-ED47-02A6-A2B4C98159DE}"/>
              </a:ext>
            </a:extLst>
          </p:cNvPr>
          <p:cNvCxnSpPr/>
          <p:nvPr/>
        </p:nvCxnSpPr>
        <p:spPr>
          <a:xfrm>
            <a:off x="8149854" y="3118745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79752FC-1D8F-0733-2F97-9391CC374C15}"/>
              </a:ext>
            </a:extLst>
          </p:cNvPr>
          <p:cNvCxnSpPr/>
          <p:nvPr/>
        </p:nvCxnSpPr>
        <p:spPr>
          <a:xfrm>
            <a:off x="9106784" y="3118745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742BD49-4199-3DD8-A158-F7A9248BD237}"/>
              </a:ext>
            </a:extLst>
          </p:cNvPr>
          <p:cNvCxnSpPr/>
          <p:nvPr/>
        </p:nvCxnSpPr>
        <p:spPr>
          <a:xfrm>
            <a:off x="10074347" y="3097480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EFE31A3-5286-CE87-7E50-D4DEC0BCD857}"/>
              </a:ext>
            </a:extLst>
          </p:cNvPr>
          <p:cNvCxnSpPr/>
          <p:nvPr/>
        </p:nvCxnSpPr>
        <p:spPr>
          <a:xfrm>
            <a:off x="11084440" y="3097480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B3A0067-02E1-7AEA-A882-E355856CA432}"/>
              </a:ext>
            </a:extLst>
          </p:cNvPr>
          <p:cNvCxnSpPr/>
          <p:nvPr/>
        </p:nvCxnSpPr>
        <p:spPr>
          <a:xfrm>
            <a:off x="12030737" y="3118745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6480E65-949C-6E47-517A-B189822301A6}"/>
              </a:ext>
            </a:extLst>
          </p:cNvPr>
          <p:cNvGrpSpPr/>
          <p:nvPr/>
        </p:nvGrpSpPr>
        <p:grpSpPr>
          <a:xfrm>
            <a:off x="7416211" y="3310193"/>
            <a:ext cx="2381690" cy="592290"/>
            <a:chOff x="7432162" y="893197"/>
            <a:chExt cx="2381690" cy="592290"/>
          </a:xfrm>
        </p:grpSpPr>
        <p:sp>
          <p:nvSpPr>
            <p:cNvPr id="87" name="A0">
              <a:extLst>
                <a:ext uri="{FF2B5EF4-FFF2-40B4-BE49-F238E27FC236}">
                  <a16:creationId xmlns:a16="http://schemas.microsoft.com/office/drawing/2014/main" id="{28044700-4F1F-361A-D94E-242BC7D69B8D}"/>
                </a:ext>
              </a:extLst>
            </p:cNvPr>
            <p:cNvSpPr txBox="1"/>
            <p:nvPr/>
          </p:nvSpPr>
          <p:spPr>
            <a:xfrm>
              <a:off x="7432162" y="893197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$</a:t>
              </a:r>
              <a:endParaRPr lang="en-US" dirty="0"/>
            </a:p>
          </p:txBody>
        </p:sp>
        <p:sp>
          <p:nvSpPr>
            <p:cNvPr id="88" name="B1">
              <a:extLst>
                <a:ext uri="{FF2B5EF4-FFF2-40B4-BE49-F238E27FC236}">
                  <a16:creationId xmlns:a16="http://schemas.microsoft.com/office/drawing/2014/main" id="{8E4D2468-DC96-A74E-8664-17FCC96BCEAA}"/>
                </a:ext>
              </a:extLst>
            </p:cNvPr>
            <p:cNvSpPr txBox="1"/>
            <p:nvPr/>
          </p:nvSpPr>
          <p:spPr>
            <a:xfrm>
              <a:off x="8378458" y="893198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89" name="C1">
              <a:extLst>
                <a:ext uri="{FF2B5EF4-FFF2-40B4-BE49-F238E27FC236}">
                  <a16:creationId xmlns:a16="http://schemas.microsoft.com/office/drawing/2014/main" id="{3F761737-7D2F-670B-C99E-B7FAE486E427}"/>
                </a:ext>
              </a:extLst>
            </p:cNvPr>
            <p:cNvSpPr txBox="1"/>
            <p:nvPr/>
          </p:nvSpPr>
          <p:spPr>
            <a:xfrm>
              <a:off x="9282225" y="900712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#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1">
                <a:extLst>
                  <a:ext uri="{FF2B5EF4-FFF2-40B4-BE49-F238E27FC236}">
                    <a16:creationId xmlns:a16="http://schemas.microsoft.com/office/drawing/2014/main" id="{3FB523F9-A6D8-832F-46EE-7254C2BBADDC}"/>
                  </a:ext>
                </a:extLst>
              </p:cNvPr>
              <p:cNvSpPr txBox="1"/>
              <p:nvPr/>
            </p:nvSpPr>
            <p:spPr>
              <a:xfrm>
                <a:off x="10345479" y="3326142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0" name="C1">
                <a:extLst>
                  <a:ext uri="{FF2B5EF4-FFF2-40B4-BE49-F238E27FC236}">
                    <a16:creationId xmlns:a16="http://schemas.microsoft.com/office/drawing/2014/main" id="{3FB523F9-A6D8-832F-46EE-7254C2BBA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5479" y="3326142"/>
                <a:ext cx="53162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1">
                <a:extLst>
                  <a:ext uri="{FF2B5EF4-FFF2-40B4-BE49-F238E27FC236}">
                    <a16:creationId xmlns:a16="http://schemas.microsoft.com/office/drawing/2014/main" id="{A1B94B23-4B09-FEC0-0350-A893317E0C7B}"/>
                  </a:ext>
                </a:extLst>
              </p:cNvPr>
              <p:cNvSpPr txBox="1"/>
              <p:nvPr/>
            </p:nvSpPr>
            <p:spPr>
              <a:xfrm>
                <a:off x="11345346" y="3313186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C1">
                <a:extLst>
                  <a:ext uri="{FF2B5EF4-FFF2-40B4-BE49-F238E27FC236}">
                    <a16:creationId xmlns:a16="http://schemas.microsoft.com/office/drawing/2014/main" id="{A1B94B23-4B09-FEC0-0350-A893317E0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5346" y="3313186"/>
                <a:ext cx="5316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A0">
            <a:extLst>
              <a:ext uri="{FF2B5EF4-FFF2-40B4-BE49-F238E27FC236}">
                <a16:creationId xmlns:a16="http://schemas.microsoft.com/office/drawing/2014/main" id="{9D63E249-A36C-7861-DBF3-2DB059B9D139}"/>
              </a:ext>
            </a:extLst>
          </p:cNvPr>
          <p:cNvSpPr txBox="1"/>
          <p:nvPr/>
        </p:nvSpPr>
        <p:spPr>
          <a:xfrm>
            <a:off x="6455736" y="3310193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1">
                <a:extLst>
                  <a:ext uri="{FF2B5EF4-FFF2-40B4-BE49-F238E27FC236}">
                    <a16:creationId xmlns:a16="http://schemas.microsoft.com/office/drawing/2014/main" id="{BDCE9C10-A7A0-E1DA-D0AC-B3C44D48551E}"/>
                  </a:ext>
                </a:extLst>
              </p:cNvPr>
              <p:cNvSpPr txBox="1"/>
              <p:nvPr/>
            </p:nvSpPr>
            <p:spPr>
              <a:xfrm>
                <a:off x="5514753" y="3304151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C1">
                <a:extLst>
                  <a:ext uri="{FF2B5EF4-FFF2-40B4-BE49-F238E27FC236}">
                    <a16:creationId xmlns:a16="http://schemas.microsoft.com/office/drawing/2014/main" id="{BDCE9C10-A7A0-E1DA-D0AC-B3C44D485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753" y="3304151"/>
                <a:ext cx="53162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1D7FF5B-5B9B-9603-BEFE-EE56DB0379A7}"/>
              </a:ext>
            </a:extLst>
          </p:cNvPr>
          <p:cNvCxnSpPr>
            <a:cxnSpLocks/>
          </p:cNvCxnSpPr>
          <p:nvPr/>
        </p:nvCxnSpPr>
        <p:spPr>
          <a:xfrm>
            <a:off x="5499249" y="4115345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BB58D08-DF5F-B7DF-D5C1-4B99CCC11C6D}"/>
              </a:ext>
            </a:extLst>
          </p:cNvPr>
          <p:cNvSpPr/>
          <p:nvPr/>
        </p:nvSpPr>
        <p:spPr>
          <a:xfrm>
            <a:off x="8222513" y="3956638"/>
            <a:ext cx="832882" cy="729030"/>
          </a:xfrm>
          <a:prstGeom prst="triangle">
            <a:avLst/>
          </a:prstGeom>
          <a:solidFill>
            <a:srgbClr val="00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C6BB457-864C-9B34-6821-DF3AAE66A0B8}"/>
              </a:ext>
            </a:extLst>
          </p:cNvPr>
          <p:cNvCxnSpPr/>
          <p:nvPr/>
        </p:nvCxnSpPr>
        <p:spPr>
          <a:xfrm>
            <a:off x="6211184" y="483466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DF1D384-8968-194E-82A7-52A82CE4735C}"/>
              </a:ext>
            </a:extLst>
          </p:cNvPr>
          <p:cNvCxnSpPr>
            <a:cxnSpLocks/>
          </p:cNvCxnSpPr>
          <p:nvPr/>
        </p:nvCxnSpPr>
        <p:spPr>
          <a:xfrm>
            <a:off x="5499249" y="4855929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E3AAA8E-73B3-2A30-080F-840445003F0E}"/>
              </a:ext>
            </a:extLst>
          </p:cNvPr>
          <p:cNvCxnSpPr/>
          <p:nvPr/>
        </p:nvCxnSpPr>
        <p:spPr>
          <a:xfrm>
            <a:off x="7171659" y="485592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3D3CE34-B12C-51A8-FEA9-6A28191A46B8}"/>
              </a:ext>
            </a:extLst>
          </p:cNvPr>
          <p:cNvCxnSpPr/>
          <p:nvPr/>
        </p:nvCxnSpPr>
        <p:spPr>
          <a:xfrm>
            <a:off x="8149854" y="485592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C1E4ECC-1947-BCB4-E318-62A72FBAD711}"/>
              </a:ext>
            </a:extLst>
          </p:cNvPr>
          <p:cNvCxnSpPr/>
          <p:nvPr/>
        </p:nvCxnSpPr>
        <p:spPr>
          <a:xfrm>
            <a:off x="9106784" y="485592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B513B6B-628A-A097-B7E7-3AFF5DAE163F}"/>
              </a:ext>
            </a:extLst>
          </p:cNvPr>
          <p:cNvCxnSpPr/>
          <p:nvPr/>
        </p:nvCxnSpPr>
        <p:spPr>
          <a:xfrm>
            <a:off x="10074347" y="483466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411677F-5470-B07D-5018-39D40059552E}"/>
              </a:ext>
            </a:extLst>
          </p:cNvPr>
          <p:cNvCxnSpPr/>
          <p:nvPr/>
        </p:nvCxnSpPr>
        <p:spPr>
          <a:xfrm>
            <a:off x="11084440" y="4834664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FBEEDC8-D28B-F088-A1CB-DEAADBAFC46A}"/>
              </a:ext>
            </a:extLst>
          </p:cNvPr>
          <p:cNvCxnSpPr/>
          <p:nvPr/>
        </p:nvCxnSpPr>
        <p:spPr>
          <a:xfrm>
            <a:off x="12030737" y="4855929"/>
            <a:ext cx="0" cy="1010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937B6E1-421E-176C-4DD1-6660BD239228}"/>
              </a:ext>
            </a:extLst>
          </p:cNvPr>
          <p:cNvGrpSpPr/>
          <p:nvPr/>
        </p:nvGrpSpPr>
        <p:grpSpPr>
          <a:xfrm>
            <a:off x="7416211" y="5047377"/>
            <a:ext cx="2381690" cy="592290"/>
            <a:chOff x="7432162" y="893197"/>
            <a:chExt cx="2381690" cy="592290"/>
          </a:xfrm>
        </p:grpSpPr>
        <p:sp>
          <p:nvSpPr>
            <p:cNvPr id="104" name="A0">
              <a:extLst>
                <a:ext uri="{FF2B5EF4-FFF2-40B4-BE49-F238E27FC236}">
                  <a16:creationId xmlns:a16="http://schemas.microsoft.com/office/drawing/2014/main" id="{737B9B4E-D081-6FB6-CAC0-134662530530}"/>
                </a:ext>
              </a:extLst>
            </p:cNvPr>
            <p:cNvSpPr txBox="1"/>
            <p:nvPr/>
          </p:nvSpPr>
          <p:spPr>
            <a:xfrm>
              <a:off x="7432162" y="893197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105" name="B1">
              <a:extLst>
                <a:ext uri="{FF2B5EF4-FFF2-40B4-BE49-F238E27FC236}">
                  <a16:creationId xmlns:a16="http://schemas.microsoft.com/office/drawing/2014/main" id="{A2E7271D-0C67-8608-AB5F-276287C2FD22}"/>
                </a:ext>
              </a:extLst>
            </p:cNvPr>
            <p:cNvSpPr txBox="1"/>
            <p:nvPr/>
          </p:nvSpPr>
          <p:spPr>
            <a:xfrm>
              <a:off x="8378458" y="893198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1</a:t>
              </a:r>
              <a:endParaRPr lang="en-US" dirty="0"/>
            </a:p>
          </p:txBody>
        </p:sp>
        <p:sp>
          <p:nvSpPr>
            <p:cNvPr id="106" name="C1">
              <a:extLst>
                <a:ext uri="{FF2B5EF4-FFF2-40B4-BE49-F238E27FC236}">
                  <a16:creationId xmlns:a16="http://schemas.microsoft.com/office/drawing/2014/main" id="{89B4F7BC-85BB-AEFB-3EDB-C0AF4871876B}"/>
                </a:ext>
              </a:extLst>
            </p:cNvPr>
            <p:cNvSpPr txBox="1"/>
            <p:nvPr/>
          </p:nvSpPr>
          <p:spPr>
            <a:xfrm>
              <a:off x="9282225" y="900712"/>
              <a:ext cx="531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0</a:t>
              </a:r>
              <a:endParaRPr lang="en-US" dirty="0"/>
            </a:p>
          </p:txBody>
        </p:sp>
      </p:grpSp>
      <p:sp>
        <p:nvSpPr>
          <p:cNvPr id="107" name="C1">
            <a:extLst>
              <a:ext uri="{FF2B5EF4-FFF2-40B4-BE49-F238E27FC236}">
                <a16:creationId xmlns:a16="http://schemas.microsoft.com/office/drawing/2014/main" id="{10061D3F-2710-1A68-664B-27DEF9154155}"/>
              </a:ext>
            </a:extLst>
          </p:cNvPr>
          <p:cNvSpPr txBox="1"/>
          <p:nvPr/>
        </p:nvSpPr>
        <p:spPr>
          <a:xfrm>
            <a:off x="10345479" y="5063326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0</a:t>
            </a:r>
          </a:p>
        </p:txBody>
      </p:sp>
      <p:sp>
        <p:nvSpPr>
          <p:cNvPr id="108" name="C1">
            <a:extLst>
              <a:ext uri="{FF2B5EF4-FFF2-40B4-BE49-F238E27FC236}">
                <a16:creationId xmlns:a16="http://schemas.microsoft.com/office/drawing/2014/main" id="{122C0553-CA83-B406-2C62-58EE32333B97}"/>
              </a:ext>
            </a:extLst>
          </p:cNvPr>
          <p:cNvSpPr txBox="1"/>
          <p:nvPr/>
        </p:nvSpPr>
        <p:spPr>
          <a:xfrm>
            <a:off x="11345346" y="5050370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9" name="A0">
            <a:extLst>
              <a:ext uri="{FF2B5EF4-FFF2-40B4-BE49-F238E27FC236}">
                <a16:creationId xmlns:a16="http://schemas.microsoft.com/office/drawing/2014/main" id="{2AA4CC01-5A2F-A07C-363F-7D2BE86821D7}"/>
              </a:ext>
            </a:extLst>
          </p:cNvPr>
          <p:cNvSpPr txBox="1"/>
          <p:nvPr/>
        </p:nvSpPr>
        <p:spPr>
          <a:xfrm>
            <a:off x="6455736" y="5047377"/>
            <a:ext cx="53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C1">
                <a:extLst>
                  <a:ext uri="{FF2B5EF4-FFF2-40B4-BE49-F238E27FC236}">
                    <a16:creationId xmlns:a16="http://schemas.microsoft.com/office/drawing/2014/main" id="{A0F89203-265C-39B5-D982-67EBBE551206}"/>
                  </a:ext>
                </a:extLst>
              </p:cNvPr>
              <p:cNvSpPr txBox="1"/>
              <p:nvPr/>
            </p:nvSpPr>
            <p:spPr>
              <a:xfrm>
                <a:off x="5514753" y="5041335"/>
                <a:ext cx="531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C1">
                <a:extLst>
                  <a:ext uri="{FF2B5EF4-FFF2-40B4-BE49-F238E27FC236}">
                    <a16:creationId xmlns:a16="http://schemas.microsoft.com/office/drawing/2014/main" id="{A0F89203-265C-39B5-D982-67EBBE551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753" y="5041335"/>
                <a:ext cx="53162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20496CA-F20D-8AE8-9710-D1D94E22A64A}"/>
              </a:ext>
            </a:extLst>
          </p:cNvPr>
          <p:cNvCxnSpPr>
            <a:cxnSpLocks/>
          </p:cNvCxnSpPr>
          <p:nvPr/>
        </p:nvCxnSpPr>
        <p:spPr>
          <a:xfrm>
            <a:off x="5499249" y="5852529"/>
            <a:ext cx="66768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tx1">
                    <a:alpha val="0"/>
                  </a:schemeClr>
                </a:gs>
                <a:gs pos="8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7049950C-D7FE-2592-0CF5-A25F2881FAE1}"/>
              </a:ext>
            </a:extLst>
          </p:cNvPr>
          <p:cNvSpPr/>
          <p:nvPr/>
        </p:nvSpPr>
        <p:spPr>
          <a:xfrm>
            <a:off x="11192541" y="5686061"/>
            <a:ext cx="832882" cy="729030"/>
          </a:xfrm>
          <a:prstGeom prst="triangle">
            <a:avLst/>
          </a:prstGeom>
          <a:solidFill>
            <a:srgbClr val="00FF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85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4AD9-5E61-18A5-1713-8A190FFB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Space complexity for string-valued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777C6-5428-5C33-BEE8-7CA100303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062" y="1825624"/>
                <a:ext cx="11884337" cy="480608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and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Def: </a:t>
                </a:r>
                <a:r>
                  <a:rPr lang="en-US" dirty="0"/>
                  <a:t>We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/>
                    </a:solidFill>
                  </a:rPr>
                  <a:t>computable in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space </a:t>
                </a:r>
                <a:r>
                  <a:rPr lang="en-US" dirty="0"/>
                  <a:t>if there is a 3-tape TM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such that:</a:t>
                </a:r>
              </a:p>
              <a:p>
                <a:pPr lvl="1"/>
                <a:r>
                  <a:rPr lang="en-US" sz="2800" dirty="0"/>
                  <a:t>If we initialize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 on tape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, then it halts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 on tape 3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never modifies tape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b="0" dirty="0"/>
                  <a:t> </a:t>
                </a:r>
                <a:r>
                  <a:rPr lang="en-US" sz="2800" b="0" dirty="0">
                    <a:solidFill>
                      <a:schemeClr val="accent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b="0" dirty="0">
                    <a:solidFill>
                      <a:schemeClr val="accent1"/>
                    </a:solidFill>
                  </a:rPr>
                  <a:t>’s behavior does not depend on what it reads on tape 3</a:t>
                </a:r>
                <a:endParaRPr lang="en-US" sz="2800" b="0" dirty="0"/>
              </a:p>
              <a:p>
                <a:pPr lvl="1"/>
                <a:r>
                  <a:rPr lang="en-US" sz="2800" dirty="0"/>
                  <a:t>The tape 1 head is always located within one cell of the input</a:t>
                </a:r>
              </a:p>
              <a:p>
                <a:pPr lvl="1"/>
                <a:r>
                  <a:rPr lang="en-US" sz="2800" dirty="0"/>
                  <a:t>When the input has length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/>
                  <a:t>, the tape 2 head visits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cells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777C6-5428-5C33-BEE8-7CA100303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062" y="1825624"/>
                <a:ext cx="11884337" cy="4806085"/>
              </a:xfrm>
              <a:blipFill>
                <a:blip r:embed="rId2"/>
                <a:stretch>
                  <a:fillRect l="-924" r="-924" b="-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E91B7-CCFF-EF07-DF70-614E9878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07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A3AC776-C252-1E0C-3A88-D488B337F1D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34096" y="36512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-completeness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A3AC776-C252-1E0C-3A88-D488B337F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34096" y="36512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E162B-AA04-BB65-9574-4649FEFB85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210800" cy="48198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b="1" dirty="0"/>
                  <a:t>Definition:</a:t>
                </a:r>
                <a:r>
                  <a:rPr lang="en-US" dirty="0"/>
                  <a:t> We say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 and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CE162B-AA04-BB65-9574-4649FEFB8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210800" cy="4819874"/>
              </a:xfrm>
              <a:blipFill>
                <a:blip r:embed="rId3"/>
                <a:stretch>
                  <a:fillRect l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2A2A5-DFE5-C2C1-9D54-ADC7C352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997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C810CB-E4A3-59F0-F45B-606EC63EB08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C810CB-E4A3-59F0-F45B-606EC63EB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0CBF2-CBF6-C639-6BFF-ACCEA73CB5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2832100"/>
                <a:ext cx="11763103" cy="3796891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Proof:</a:t>
                </a:r>
                <a:r>
                  <a:rPr lang="en-US" dirty="0"/>
                  <a:t> We have already shown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be a nondeterministic log-space TM that decides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Reduction: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Each vertex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represents a “configuration”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namely, the internal state, the contents of the </a:t>
                </a:r>
                <a:r>
                  <a:rPr lang="en-US" dirty="0">
                    <a:solidFill>
                      <a:schemeClr val="accent1"/>
                    </a:solidFill>
                  </a:rPr>
                  <a:t>work tape</a:t>
                </a:r>
                <a:r>
                  <a:rPr lang="en-US" dirty="0"/>
                  <a:t>, and the locations of heads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0CBF2-CBF6-C639-6BFF-ACCEA73CB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2832100"/>
                <a:ext cx="11763103" cy="3796891"/>
              </a:xfrm>
              <a:blipFill>
                <a:blip r:embed="rId3"/>
                <a:stretch>
                  <a:fillRect l="-933" r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2FE0E-5A89-B439-827B-542E6AE5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3B3375-E376-A122-AD19-A3139CF1F64B}"/>
                  </a:ext>
                </a:extLst>
              </p:cNvPr>
              <p:cNvSpPr/>
              <p:nvPr/>
            </p:nvSpPr>
            <p:spPr>
              <a:xfrm>
                <a:off x="2751786" y="1661783"/>
                <a:ext cx="6697014" cy="89091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STCONN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-complete</a:t>
                </a:r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3B3375-E376-A122-AD19-A3139CF1F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86" y="1661783"/>
                <a:ext cx="6697014" cy="8909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276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E8B140-AA2A-144F-27DE-2E1F74C61F8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3E8B140-AA2A-144F-27DE-2E1F74C61F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C65EA-635D-A639-7DDA-009BBAE8E1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823" y="1825625"/>
                <a:ext cx="10863329" cy="4581614"/>
              </a:xfrm>
            </p:spPr>
            <p:txBody>
              <a:bodyPr/>
              <a:lstStyle/>
              <a:p>
                <a:r>
                  <a:rPr lang="en-US" dirty="0"/>
                  <a:t>We put an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can go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a single step (with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written on input tape)</a:t>
                </a:r>
              </a:p>
              <a:p>
                <a:r>
                  <a:rPr lang="en-US" dirty="0"/>
                  <a:t>We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initial configuration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 accepting configuration</a:t>
                </a:r>
              </a:p>
              <a:p>
                <a:r>
                  <a:rPr lang="en-US" dirty="0"/>
                  <a:t>(Without loss of generality, the accepting configuration is unique)</a:t>
                </a:r>
              </a:p>
              <a:p>
                <a:r>
                  <a:rPr lang="en-US" dirty="0"/>
                  <a:t>YES maps to YES ✔️ NO maps to NO ✔️</a:t>
                </a:r>
              </a:p>
              <a:p>
                <a:r>
                  <a:rPr lang="en-US" dirty="0"/>
                  <a:t>Exercise: The reduction can be computed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space ✔️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C65EA-635D-A639-7DDA-009BBAE8E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823" y="1825625"/>
                <a:ext cx="10863329" cy="4581614"/>
              </a:xfrm>
              <a:blipFill>
                <a:blip r:embed="rId3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04592-CAA3-2B30-82EB-D50C88B9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94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D20D-F12E-027A-FF47-864918DD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</a:t>
            </a:r>
            <a:r>
              <a:rPr lang="en-US" dirty="0" err="1"/>
              <a:t>Savitch’s</a:t>
            </a:r>
            <a:r>
              <a:rPr lang="en-US" dirty="0"/>
              <a:t>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92FA1-6019-875E-F1C5-1E7A34D86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37163"/>
                <a:ext cx="10515600" cy="3239799"/>
              </a:xfrm>
            </p:spPr>
            <p:txBody>
              <a:bodyPr/>
              <a:lstStyle/>
              <a:p>
                <a:r>
                  <a:rPr lang="en-US" dirty="0"/>
                  <a:t>Proof step 1: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✔️</a:t>
                </a:r>
              </a:p>
              <a:p>
                <a:r>
                  <a:rPr lang="en-US" dirty="0"/>
                  <a:t>Proof step 2: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STCONN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NL</m:t>
                    </m:r>
                  </m:oMath>
                </a14:m>
                <a:r>
                  <a:rPr lang="en-US" dirty="0"/>
                  <a:t>-complete ✔️</a:t>
                </a:r>
              </a:p>
              <a:p>
                <a:r>
                  <a:rPr lang="en-US" dirty="0"/>
                  <a:t>Proof step 3: Show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/>
                    </a:solidFill>
                  </a:rPr>
                  <a:t>closed</a:t>
                </a:r>
                <a:r>
                  <a:rPr lang="en-US" dirty="0"/>
                  <a:t> under log-space mapping reductions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392FA1-6019-875E-F1C5-1E7A34D86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37163"/>
                <a:ext cx="10515600" cy="3239799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76CAC-8104-4E35-2F01-2BB63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B20D-9436-4192-BF4B-8FB3BEF1787F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D1550-AE08-3889-F019-48CA11870E93}"/>
                  </a:ext>
                </a:extLst>
              </p:cNvPr>
              <p:cNvSpPr/>
              <p:nvPr/>
            </p:nvSpPr>
            <p:spPr>
              <a:xfrm>
                <a:off x="2641600" y="1690688"/>
                <a:ext cx="6908799" cy="88562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Savitch’s 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NL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nor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SPACE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FD1550-AE08-3889-F019-48CA11870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0" y="1690688"/>
                <a:ext cx="6908799" cy="885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31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64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179655</TotalTime>
  <Words>1252</Words>
  <Application>Microsoft Office PowerPoint</Application>
  <PresentationFormat>Widescreen</PresentationFormat>
  <Paragraphs>193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Office Theme</vt:lpstr>
      <vt:lpstr>CMSC 28100  Introduction to Complexity Theory  Autumn 2025 Instructor: William Hoza</vt:lpstr>
      <vt:lpstr>Which problems can be solved through computation?</vt:lpstr>
      <vt:lpstr>Complexity theory: The study of computational resources</vt:lpstr>
      <vt:lpstr>Computational resources: Fuel for algorithms</vt:lpstr>
      <vt:lpstr>"P" vs. "NP" vs. "PSPACE" vs. "EXP"</vt:lpstr>
      <vt:lpstr>Sublinear-space computation</vt:lpstr>
      <vt:lpstr>Sublinear-space computation</vt:lpstr>
      <vt:lpstr>The complexity class "SPACE" (S)</vt:lpstr>
      <vt:lpstr>The complexity class "L"</vt:lpstr>
      <vt:lpstr>Example: Balanced binary strings</vt:lpstr>
      <vt:lpstr>"L"⊆"P" </vt:lpstr>
      <vt:lpstr>PowerPoint Presentation</vt:lpstr>
      <vt:lpstr>The "L" vs. "P" problem</vt:lpstr>
      <vt:lpstr>"L" vs. "P" vs. "NP" vs. "PSPACE"</vt:lpstr>
      <vt:lpstr>Nondeterministic log space computation</vt:lpstr>
      <vt:lpstr>The s-t connectivity problem</vt:lpstr>
      <vt:lpstr>Two surprises about "NL"</vt:lpstr>
      <vt:lpstr>Proof of Savitch’s theorem</vt:lpstr>
      <vt:lpstr>Savitch’s algorithm</vt:lpstr>
      <vt:lpstr>Proof of Savitch’s theorem</vt:lpstr>
      <vt:lpstr>Log-space reductions</vt:lpstr>
      <vt:lpstr>Space-bounded “transducer”</vt:lpstr>
      <vt:lpstr>Space complexity for string-valued functions</vt:lpstr>
      <vt:lpstr>"NL"-completeness</vt:lpstr>
      <vt:lpstr>"STCONN" is "NL"-complete</vt:lpstr>
      <vt:lpstr>"STCONN" is "NL"-complete</vt:lpstr>
      <vt:lpstr>Proof of Savitch’s theorem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Complexity Theory</dc:title>
  <dc:creator>William Hoza</dc:creator>
  <cp:lastModifiedBy>William Hoza</cp:lastModifiedBy>
  <cp:revision>743</cp:revision>
  <dcterms:created xsi:type="dcterms:W3CDTF">2022-12-12T23:26:37Z</dcterms:created>
  <dcterms:modified xsi:type="dcterms:W3CDTF">2025-12-03T21:37:38Z</dcterms:modified>
</cp:coreProperties>
</file>