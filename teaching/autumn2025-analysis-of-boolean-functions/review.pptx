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21" r:id="rId2"/>
    <p:sldId id="487" r:id="rId3"/>
    <p:sldId id="488" r:id="rId4"/>
    <p:sldId id="489" r:id="rId5"/>
    <p:sldId id="490" r:id="rId6"/>
    <p:sldId id="499" r:id="rId7"/>
    <p:sldId id="495" r:id="rId8"/>
    <p:sldId id="501" r:id="rId9"/>
    <p:sldId id="502" r:id="rId10"/>
    <p:sldId id="494" r:id="rId11"/>
    <p:sldId id="503" r:id="rId12"/>
    <p:sldId id="504" r:id="rId13"/>
    <p:sldId id="506" r:id="rId14"/>
    <p:sldId id="507" r:id="rId15"/>
    <p:sldId id="508" r:id="rId16"/>
    <p:sldId id="509" r:id="rId17"/>
    <p:sldId id="510" r:id="rId18"/>
    <p:sldId id="505" r:id="rId19"/>
    <p:sldId id="511" r:id="rId20"/>
    <p:sldId id="512" r:id="rId21"/>
    <p:sldId id="496" r:id="rId22"/>
    <p:sldId id="513" r:id="rId23"/>
    <p:sldId id="952" r:id="rId24"/>
    <p:sldId id="950" r:id="rId25"/>
    <p:sldId id="45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A3"/>
    <a:srgbClr val="AAA3FF"/>
    <a:srgbClr val="A3B2FF"/>
    <a:srgbClr val="A3CFFF"/>
    <a:srgbClr val="A3EDFF"/>
    <a:srgbClr val="A3FDFF"/>
    <a:srgbClr val="A3FFC8"/>
    <a:srgbClr val="A3FFE0"/>
    <a:srgbClr val="B5FFA3"/>
    <a:srgbClr val="DEF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51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C89D9-4143-4CE6-8C54-F02D74289DB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6803F-40F5-437E-BE1A-AAEA2518A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43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0DE4-FF9C-80CF-C5CC-74A127A4B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64B6A-43CC-BC88-2615-C72CE1750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F18CE-EB28-5DD6-B11F-C69C0BB2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DF79-D6C2-44B3-8742-A22E7E2B2DF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A965-1956-CB40-F7D8-41BA1941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86D55-6856-8978-D386-5F0DC01A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5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61B20D-9436-4192-BF4B-8FB3BEF178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000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9E84-60CD-2150-A370-2D916ABC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FFB9B-E796-4A75-E099-81EE16B66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DB585-9E6C-6EB7-EF7D-115EDC85F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C3CF-17B5-4FE7-A6C3-1E55F63BBB29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2B97E-968F-0FDD-921C-6846DE86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786B-4A9A-5DD9-FFE4-54BF3377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844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61B20D-9436-4192-BF4B-8FB3BEF178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2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E31E-5737-97AE-B548-C476F3990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B9689-C3A0-666A-C71B-F0DE27D34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4547B-E9B5-8BCE-E253-08A353B9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1A7A-1332-4B30-AF4F-8BCB3CC4E7B6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6709A-57B6-02BB-4C18-2E008E5E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117F1-3E92-F3D9-78F3-9326FCB1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2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FE794-A894-D40F-64BE-8D410705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F2C6-A7E3-B9F1-4014-740D27098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3E3D2-C77F-FBD4-344E-9F8F1EFB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1D8CC-203D-1A00-3272-5C9F9793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C27B-0845-452C-9314-A19F69723BBD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40A68-87AE-D0B8-9C75-9538D0C9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14080-4E51-77B1-DE7C-35B79A84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60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6F28-653C-43CC-0F34-2CE78FEB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06BFB-CED3-31FF-C336-633076F7C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558B5-2476-BE98-66C3-D309FCDD9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69734-910F-007D-4002-F9D362914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B49EA7-3FB0-7A34-DE17-C2F34303A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B5B7C-620E-B71B-6E6B-73950834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F1A3-5A5F-4792-B78C-6135637B9452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80EAE-C2DA-429E-2856-E9A39FCE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E504-838C-DA70-B564-044F0880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0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9578-BA9A-92B8-A46F-FA8D931FC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3D9A0-FA24-33DC-6CBE-DB1E4A2D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D9451-D3D4-4E42-BABA-51ED05BC4A7B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81BF0-0DE8-96DB-7CEC-E1B839CD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BFE14-C8B0-F638-FFB8-3AE6132C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032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61B20D-9436-4192-BF4B-8FB3BEF178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46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B7E2C-525A-20B9-5ABD-B1F52212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536A-191E-4FD3-9217-AC0125948861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A35DC-A81D-D970-E468-E6E7B757B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3F316-B2B0-A721-09FC-6CF0F365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969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61B20D-9436-4192-BF4B-8FB3BEF178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2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3158-EA36-B587-0F1E-F8F8A4F1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4835D-F4EB-9C46-9D4D-9767BE30B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D17DB-6CBC-E581-B2D4-E4EBC1115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07D0D-F212-A2D4-82A7-5EC7440B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3400-7673-4D56-AFCD-41352542AA5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36903-15A5-473D-5C6E-162F415B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E457D-CA0C-E56D-EDCA-5301AC1F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9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514E-03CF-9826-EE9B-7ACFB1270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61131C-326F-042B-16D4-A65F9D0F2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A72E3-AD5B-5CD6-4991-51F45174F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87A13-CE50-8513-985C-D2C7D862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DF79-0AD1-4A96-B09E-944AF8ACECDD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61B45-13B0-76C7-8BAC-96EBF79D3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A6D0D-C224-73DC-0143-0881479E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EAB7-07EC-1EA5-53F3-8F4275E4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24E0C-DA48-06AA-BA2E-49DDBCA76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8F0FE-25F2-F159-1B9E-3CE051D0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0D43-1401-4BC0-A39D-A766495ECF36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5A323-6743-3F78-3350-91557D22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EFC33-9C19-3F3B-CC37-11CD52F7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6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51E061-43B9-715E-10A1-43924C056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54F26-8700-5286-046A-F18D1D71C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5B5C2-B43D-EDEA-E6AC-0E7A5EFA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14FD-A691-403F-8A1F-9E3EDE8FE8F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AD3D-3C48-B69E-8B2E-A73197BE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4E5E-E577-449C-B1E5-FED04977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1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C8D14-FE37-35F9-6FC5-1BBE58023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FB97-4B6A-F842-15DB-F6915CC92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6798-148C-2E16-43F6-3E69880A9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0B097-4004-4718-A94A-9D119BA8F2F4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B81AC-BEE3-A42E-6ACF-BDFF7D14A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3639E-8602-86E4-86A5-EF2B46162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27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A9D4-7934-BA31-6EB9-84A7C1B35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581" y="622697"/>
            <a:ext cx="11376837" cy="33901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/>
              <a:t>Analysis of Boolean Functions</a:t>
            </a:r>
            <a:br>
              <a:rPr lang="en-US" sz="4800" dirty="0"/>
            </a:br>
            <a:r>
              <a:rPr lang="en-US" sz="3600" dirty="0"/>
              <a:t>Autumn 2025</a:t>
            </a:r>
            <a:br>
              <a:rPr lang="en-US" sz="3600" dirty="0"/>
            </a:br>
            <a:r>
              <a:rPr lang="en-US" sz="3600" dirty="0"/>
              <a:t>Course Summary &amp; Review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6DA1B-B4FA-D94B-1FD8-8D5309479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747908"/>
            <a:ext cx="9144000" cy="1743047"/>
          </a:xfrm>
        </p:spPr>
        <p:txBody>
          <a:bodyPr>
            <a:normAutofit/>
          </a:bodyPr>
          <a:lstStyle/>
          <a:p>
            <a:r>
              <a:rPr lang="en-US" dirty="0"/>
              <a:t>Instructor: William Hoza</a:t>
            </a:r>
          </a:p>
          <a:p>
            <a:r>
              <a:rPr lang="en-US" dirty="0"/>
              <a:t>The University of Chicago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29CC5-63E4-F1AD-C847-888FA6F4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713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A3F0-9EF1-8D65-ED53-A2979B5B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809203-A35E-0B32-3711-65BD5FD941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Fourier Expansion Theorem:</a:t>
                </a:r>
                <a:r>
                  <a:rPr lang="en-US" dirty="0"/>
                  <a:t>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±1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can be uniquely written as a multilinear polynomial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  <m:sup/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∏"/>
                              <m:supHide m:val="on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Character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809203-A35E-0B32-3711-65BD5FD941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045A9-7752-6CF6-1B4D-1AA2CB75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09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ADD3E-3E19-DAAB-D175-41BE0941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product space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F2A2E-E2FA-80FF-2BA8-4694F038C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41922"/>
                <a:ext cx="10515600" cy="4672887"/>
              </a:xfrm>
            </p:spPr>
            <p:txBody>
              <a:bodyPr/>
              <a:lstStyle/>
              <a:p>
                <a:r>
                  <a:rPr lang="en-US" b="1" dirty="0"/>
                  <a:t>Inner product: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b="1" dirty="0"/>
              </a:p>
              <a:p>
                <a:r>
                  <a:rPr lang="en-US" b="1" dirty="0" err="1"/>
                  <a:t>Plancherel’s</a:t>
                </a:r>
                <a:r>
                  <a:rPr lang="en-US" b="1" dirty="0"/>
                  <a:t> Theorem: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⊆[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r>
                  <a:rPr lang="en-US" b="1" dirty="0"/>
                  <a:t>Fourier Coefficient Formula: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r>
                  <a:rPr lang="en-US" b="1" dirty="0"/>
                  <a:t>Parseval’s Theorem: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⊆[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F2A2E-E2FA-80FF-2BA8-4694F038C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41922"/>
                <a:ext cx="10515600" cy="4672887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E39A3-9E52-0007-B37C-8AB3A584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26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F3DB7-C25F-4CFD-1FD7-E5EB70B1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Fourier spectrum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562B8-63AA-0133-ECE3-C94576FAD2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≠∅</m:t>
                        </m:r>
                      </m:sub>
                      <m:sup/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±1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=1−2⋅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562B8-63AA-0133-ECE3-C94576FAD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DFF33-CA7C-91C9-8A0B-6F1573F9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8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9C0BD16-A312-7CE4-F945-28C879873585}"/>
              </a:ext>
            </a:extLst>
          </p:cNvPr>
          <p:cNvGrpSpPr/>
          <p:nvPr/>
        </p:nvGrpSpPr>
        <p:grpSpPr>
          <a:xfrm>
            <a:off x="3508443" y="1949386"/>
            <a:ext cx="5433543" cy="3916128"/>
            <a:chOff x="3508443" y="1949386"/>
            <a:chExt cx="5433543" cy="391612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E980F96-5BEA-FFFF-6D47-888BF3CE09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5165" y="1949386"/>
              <a:ext cx="1090782" cy="928943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BB3365-F1F9-FA0D-882F-44380F18FE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9126" y="4282466"/>
              <a:ext cx="1802860" cy="1202539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0388E6C-947A-1D98-1CF3-9F7B1E020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6200" y="4786009"/>
              <a:ext cx="932234" cy="1079505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69A560-1428-761E-E9A8-6F704C7C9C9C}"/>
                </a:ext>
              </a:extLst>
            </p:cNvPr>
            <p:cNvCxnSpPr/>
            <p:nvPr/>
          </p:nvCxnSpPr>
          <p:spPr>
            <a:xfrm flipH="1" flipV="1">
              <a:off x="3508443" y="2263597"/>
              <a:ext cx="1186774" cy="777918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0825222-E2D1-5350-F2E1-34E7D141863A}"/>
                    </a:ext>
                  </a:extLst>
                </p:cNvPr>
                <p:cNvSpPr txBox="1"/>
                <p:nvPr/>
              </p:nvSpPr>
              <p:spPr>
                <a:xfrm>
                  <a:off x="4534090" y="2416421"/>
                  <a:ext cx="3099880" cy="253877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2000" dirty="0"/>
                    <a:t>How complicated is the </a:t>
                  </a:r>
                  <a:r>
                    <a:rPr lang="en-US" sz="2000" dirty="0">
                      <a:solidFill>
                        <a:schemeClr val="accent1"/>
                      </a:solidFill>
                    </a:rPr>
                    <a:t>Fourier expansion</a:t>
                  </a:r>
                  <a:r>
                    <a:rPr lang="en-US" sz="2000" dirty="0"/>
                    <a:t> of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sz="2000" dirty="0"/>
                    <a:t>?</a:t>
                  </a: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deg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600" dirty="0"/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‖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‖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600" dirty="0"/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600" dirty="0"/>
                    <a:t>Spectral concentration</a:t>
                  </a: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0825222-E2D1-5350-F2E1-34E7D1418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4090" y="2416421"/>
                  <a:ext cx="3099880" cy="2538772"/>
                </a:xfrm>
                <a:prstGeom prst="rect">
                  <a:avLst/>
                </a:prstGeom>
                <a:blipFill>
                  <a:blip r:embed="rId2"/>
                  <a:stretch>
                    <a:fillRect l="-156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760D709-A402-1DC2-535E-013FD244A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292"/>
            <a:ext cx="10515600" cy="1325563"/>
          </a:xfrm>
        </p:spPr>
        <p:txBody>
          <a:bodyPr/>
          <a:lstStyle/>
          <a:p>
            <a:r>
              <a:rPr lang="en-US" dirty="0"/>
              <a:t>Complexity measures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43C93-B52F-75B5-99C0-C2A65F99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561753-5F3A-3D35-F41F-FEE79B867115}"/>
                  </a:ext>
                </a:extLst>
              </p:cNvPr>
              <p:cNvSpPr txBox="1"/>
              <p:nvPr/>
            </p:nvSpPr>
            <p:spPr>
              <a:xfrm>
                <a:off x="586950" y="1540360"/>
                <a:ext cx="3510068" cy="24961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How difficult is it to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compute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?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Decision tree depth/size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AC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600" dirty="0"/>
                  <a:t> circuit depth/size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ROBP width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PTF sparsity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561753-5F3A-3D35-F41F-FEE79B867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50" y="1540360"/>
                <a:ext cx="3510068" cy="2496196"/>
              </a:xfrm>
              <a:prstGeom prst="rect">
                <a:avLst/>
              </a:prstGeom>
              <a:blipFill>
                <a:blip r:embed="rId3"/>
                <a:stretch>
                  <a:fillRect l="-1384" r="-519" b="-4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A19E71-1624-1252-8ACE-455799D3BCBD}"/>
                  </a:ext>
                </a:extLst>
              </p:cNvPr>
              <p:cNvSpPr txBox="1"/>
              <p:nvPr/>
            </p:nvSpPr>
            <p:spPr>
              <a:xfrm>
                <a:off x="8194745" y="1072347"/>
                <a:ext cx="3702994" cy="17161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How much time does is take to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learn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?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From random examples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From queries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A19E71-1624-1252-8ACE-455799D3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745" y="1072347"/>
                <a:ext cx="3702994" cy="1716111"/>
              </a:xfrm>
              <a:prstGeom prst="rect">
                <a:avLst/>
              </a:prstGeom>
              <a:blipFill>
                <a:blip r:embed="rId4"/>
                <a:stretch>
                  <a:fillRect l="-1311" r="-1475" b="-353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36866E-E587-55F9-8119-4D872C45DF57}"/>
                  </a:ext>
                </a:extLst>
              </p:cNvPr>
              <p:cNvSpPr txBox="1"/>
              <p:nvPr/>
            </p:nvSpPr>
            <p:spPr>
              <a:xfrm>
                <a:off x="586950" y="5485005"/>
                <a:ext cx="3702994" cy="96718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How many random bits does it take to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fool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36866E-E587-55F9-8119-4D872C45D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50" y="5485005"/>
                <a:ext cx="3702994" cy="967188"/>
              </a:xfrm>
              <a:prstGeom prst="rect">
                <a:avLst/>
              </a:prstGeom>
              <a:blipFill>
                <a:blip r:embed="rId5"/>
                <a:stretch>
                  <a:fillRect l="-1311" r="-820" b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E027F9-1EED-AE21-8A3C-8FC6FEC410BE}"/>
                  </a:ext>
                </a:extLst>
              </p:cNvPr>
              <p:cNvSpPr txBox="1"/>
              <p:nvPr/>
            </p:nvSpPr>
            <p:spPr>
              <a:xfrm>
                <a:off x="8117684" y="3893020"/>
                <a:ext cx="3702994" cy="23624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How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sensitive</a:t>
                </a:r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to bit flips?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Total influence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Noise sensitivity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Random restrictions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Juntas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Monotone/</a:t>
                </a:r>
                <a:r>
                  <a:rPr lang="en-US" sz="1600" dirty="0" err="1"/>
                  <a:t>unate</a:t>
                </a:r>
                <a:r>
                  <a:rPr lang="en-US" sz="1600" dirty="0"/>
                  <a:t> functions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E027F9-1EED-AE21-8A3C-8FC6FEC41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684" y="3893020"/>
                <a:ext cx="3702994" cy="2362442"/>
              </a:xfrm>
              <a:prstGeom prst="rect">
                <a:avLst/>
              </a:prstGeom>
              <a:blipFill>
                <a:blip r:embed="rId6"/>
                <a:stretch>
                  <a:fillRect l="-1314" b="-231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20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565B6-0B56-E175-F59D-FD12A7DE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BF48B-A1C6-D65A-44C8-54CC6E9E9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51762-9A57-46BD-5992-295AC1FB35B6}"/>
              </a:ext>
            </a:extLst>
          </p:cNvPr>
          <p:cNvSpPr/>
          <p:nvPr/>
        </p:nvSpPr>
        <p:spPr>
          <a:xfrm>
            <a:off x="3326119" y="368333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Spectral concentration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A8C5FB-F346-5B89-2B1C-46A31EEB1F2A}"/>
              </a:ext>
            </a:extLst>
          </p:cNvPr>
          <p:cNvSpPr/>
          <p:nvPr/>
        </p:nvSpPr>
        <p:spPr>
          <a:xfrm>
            <a:off x="1452574" y="5564637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Learnability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EB4A40-9629-059D-6CE7-DFB10129D6DC}"/>
              </a:ext>
            </a:extLst>
          </p:cNvPr>
          <p:cNvSpPr/>
          <p:nvPr/>
        </p:nvSpPr>
        <p:spPr>
          <a:xfrm>
            <a:off x="7158903" y="424316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Fourier growth bound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87316F-E5E9-4BE1-957B-52BBF968CDC5}"/>
              </a:ext>
            </a:extLst>
          </p:cNvPr>
          <p:cNvSpPr/>
          <p:nvPr/>
        </p:nvSpPr>
        <p:spPr>
          <a:xfrm>
            <a:off x="8462143" y="578592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7F90A-D55A-7246-A402-3E080A1EF245}"/>
              </a:ext>
            </a:extLst>
          </p:cNvPr>
          <p:cNvSpPr/>
          <p:nvPr/>
        </p:nvSpPr>
        <p:spPr>
          <a:xfrm>
            <a:off x="3463993" y="1542982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influence bound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0A2C09-0AD3-5911-394F-E80DCD8D3A8E}"/>
              </a:ext>
            </a:extLst>
          </p:cNvPr>
          <p:cNvSpPr/>
          <p:nvPr/>
        </p:nvSpPr>
        <p:spPr>
          <a:xfrm>
            <a:off x="5894192" y="383123"/>
            <a:ext cx="243522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Simplification under random restrictions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D72838-F3C2-2967-76A1-AD1E85AC5591}"/>
              </a:ext>
            </a:extLst>
          </p:cNvPr>
          <p:cNvSpPr/>
          <p:nvPr/>
        </p:nvSpPr>
        <p:spPr>
          <a:xfrm>
            <a:off x="480688" y="2699572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Noise sensitivity bound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8D5AB5-4DA5-1555-64D9-D1AE4701E5FB}"/>
              </a:ext>
            </a:extLst>
          </p:cNvPr>
          <p:cNvSpPr/>
          <p:nvPr/>
        </p:nvSpPr>
        <p:spPr>
          <a:xfrm>
            <a:off x="8997153" y="590928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Fourier 1-norm bound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494080-B197-59DE-9E38-3E855195932B}"/>
              </a:ext>
            </a:extLst>
          </p:cNvPr>
          <p:cNvSpPr/>
          <p:nvPr/>
        </p:nvSpPr>
        <p:spPr>
          <a:xfrm>
            <a:off x="890892" y="436602"/>
            <a:ext cx="243522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Monotonicity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A4B81C-98F7-C2A7-DE4B-DA79B07D8BA1}"/>
              </a:ext>
            </a:extLst>
          </p:cNvPr>
          <p:cNvCxnSpPr>
            <a:cxnSpLocks/>
          </p:cNvCxnSpPr>
          <p:nvPr/>
        </p:nvCxnSpPr>
        <p:spPr>
          <a:xfrm>
            <a:off x="2813717" y="1223112"/>
            <a:ext cx="480774" cy="3198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BBF9277-4A9F-D026-3380-F98B954B5840}"/>
              </a:ext>
            </a:extLst>
          </p:cNvPr>
          <p:cNvCxnSpPr>
            <a:cxnSpLocks/>
          </p:cNvCxnSpPr>
          <p:nvPr/>
        </p:nvCxnSpPr>
        <p:spPr>
          <a:xfrm flipH="1">
            <a:off x="2403835" y="2088588"/>
            <a:ext cx="890656" cy="5181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F09838-6515-9F26-4EFB-DE67C93B0140}"/>
              </a:ext>
            </a:extLst>
          </p:cNvPr>
          <p:cNvCxnSpPr>
            <a:cxnSpLocks/>
          </p:cNvCxnSpPr>
          <p:nvPr/>
        </p:nvCxnSpPr>
        <p:spPr>
          <a:xfrm flipH="1">
            <a:off x="4406887" y="2433462"/>
            <a:ext cx="99409" cy="1120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59EE28-05A9-9AC0-9E81-EC7F6F6CA191}"/>
              </a:ext>
            </a:extLst>
          </p:cNvPr>
          <p:cNvCxnSpPr>
            <a:cxnSpLocks/>
          </p:cNvCxnSpPr>
          <p:nvPr/>
        </p:nvCxnSpPr>
        <p:spPr>
          <a:xfrm>
            <a:off x="2585272" y="3227473"/>
            <a:ext cx="571923" cy="326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0ADF2C0-24D2-3675-8468-E989C3FE40F9}"/>
              </a:ext>
            </a:extLst>
          </p:cNvPr>
          <p:cNvCxnSpPr>
            <a:cxnSpLocks/>
          </p:cNvCxnSpPr>
          <p:nvPr/>
        </p:nvCxnSpPr>
        <p:spPr>
          <a:xfrm flipH="1">
            <a:off x="3022848" y="4545386"/>
            <a:ext cx="454100" cy="8307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5144E7B-BEFF-C40B-59E3-C5E27E922328}"/>
              </a:ext>
            </a:extLst>
          </p:cNvPr>
          <p:cNvCxnSpPr>
            <a:cxnSpLocks/>
          </p:cNvCxnSpPr>
          <p:nvPr/>
        </p:nvCxnSpPr>
        <p:spPr>
          <a:xfrm flipH="1">
            <a:off x="5597001" y="1201059"/>
            <a:ext cx="447907" cy="458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4DB0C18-ECA1-1BD5-EF80-8B4A125EF562}"/>
              </a:ext>
            </a:extLst>
          </p:cNvPr>
          <p:cNvCxnSpPr>
            <a:cxnSpLocks/>
          </p:cNvCxnSpPr>
          <p:nvPr/>
        </p:nvCxnSpPr>
        <p:spPr>
          <a:xfrm flipH="1">
            <a:off x="5459705" y="1213270"/>
            <a:ext cx="1432864" cy="2316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DA82AB-F73C-54EF-C396-6072E5689B83}"/>
              </a:ext>
            </a:extLst>
          </p:cNvPr>
          <p:cNvCxnSpPr>
            <a:cxnSpLocks/>
          </p:cNvCxnSpPr>
          <p:nvPr/>
        </p:nvCxnSpPr>
        <p:spPr>
          <a:xfrm>
            <a:off x="5565767" y="4028893"/>
            <a:ext cx="1447775" cy="4394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75CD971-AC90-CBFE-9D97-FE31471C874C}"/>
              </a:ext>
            </a:extLst>
          </p:cNvPr>
          <p:cNvCxnSpPr>
            <a:cxnSpLocks/>
          </p:cNvCxnSpPr>
          <p:nvPr/>
        </p:nvCxnSpPr>
        <p:spPr>
          <a:xfrm>
            <a:off x="8559538" y="5148554"/>
            <a:ext cx="268073" cy="502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A6AF2C6-EA42-DF9B-94E4-F5FFEA18299B}"/>
              </a:ext>
            </a:extLst>
          </p:cNvPr>
          <p:cNvCxnSpPr>
            <a:cxnSpLocks/>
          </p:cNvCxnSpPr>
          <p:nvPr/>
        </p:nvCxnSpPr>
        <p:spPr>
          <a:xfrm>
            <a:off x="9726466" y="1571467"/>
            <a:ext cx="182714" cy="37172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0544E41-17AE-15EC-5841-2C8738D21B4E}"/>
              </a:ext>
            </a:extLst>
          </p:cNvPr>
          <p:cNvCxnSpPr>
            <a:cxnSpLocks/>
          </p:cNvCxnSpPr>
          <p:nvPr/>
        </p:nvCxnSpPr>
        <p:spPr>
          <a:xfrm flipH="1">
            <a:off x="5552415" y="1421075"/>
            <a:ext cx="3306820" cy="2368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B8B95F0-AB0F-890C-A4AA-8FAFD2F62D0F}"/>
              </a:ext>
            </a:extLst>
          </p:cNvPr>
          <p:cNvCxnSpPr>
            <a:cxnSpLocks/>
          </p:cNvCxnSpPr>
          <p:nvPr/>
        </p:nvCxnSpPr>
        <p:spPr>
          <a:xfrm>
            <a:off x="7387043" y="1282045"/>
            <a:ext cx="372757" cy="27533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-up of a magnifying glass&#10;&#10;AI-generated content may be incorrect.">
            <a:extLst>
              <a:ext uri="{FF2B5EF4-FFF2-40B4-BE49-F238E27FC236}">
                <a16:creationId xmlns:a16="http://schemas.microsoft.com/office/drawing/2014/main" id="{3BEBAF17-CE74-D580-FC76-E499575D90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68280" y="17489"/>
            <a:ext cx="2743200" cy="324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6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0EE91BA6-2968-E1C0-48F0-613F88C405A1}"/>
              </a:ext>
            </a:extLst>
          </p:cNvPr>
          <p:cNvSpPr/>
          <p:nvPr/>
        </p:nvSpPr>
        <p:spPr>
          <a:xfrm>
            <a:off x="3195962" y="5378825"/>
            <a:ext cx="2317332" cy="437028"/>
          </a:xfrm>
          <a:prstGeom prst="parallelogram">
            <a:avLst>
              <a:gd name="adj" fmla="val 911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EC0C35-C223-C399-8C4E-C1AB50B548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Fourier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-norm: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‖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EC0C35-C223-C399-8C4E-C1AB50B548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F82B2-5AC6-6236-0E7A-7FB1D0F4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779ABEC-722D-A58E-E79A-C906E36F61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0118778"/>
                  </p:ext>
                </p:extLst>
              </p:nvPr>
            </p:nvGraphicFramePr>
            <p:xfrm>
              <a:off x="697191" y="2046985"/>
              <a:ext cx="10797617" cy="1886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60370">
                      <a:extLst>
                        <a:ext uri="{9D8B030D-6E8A-4147-A177-3AD203B41FA5}">
                          <a16:colId xmlns:a16="http://schemas.microsoft.com/office/drawing/2014/main" val="3119739007"/>
                        </a:ext>
                      </a:extLst>
                    </a:gridCol>
                    <a:gridCol w="2269742">
                      <a:extLst>
                        <a:ext uri="{9D8B030D-6E8A-4147-A177-3AD203B41FA5}">
                          <a16:colId xmlns:a16="http://schemas.microsoft.com/office/drawing/2014/main" val="1059654172"/>
                        </a:ext>
                      </a:extLst>
                    </a:gridCol>
                    <a:gridCol w="4567505">
                      <a:extLst>
                        <a:ext uri="{9D8B030D-6E8A-4147-A177-3AD203B41FA5}">
                          <a16:colId xmlns:a16="http://schemas.microsoft.com/office/drawing/2014/main" val="10014235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Bound on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‖</m:t>
                                  </m:r>
                                </m:e>
                              </m:acc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Proof technique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377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Size-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400" dirty="0"/>
                            <a:t> decision trees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Decompose as sum over leaves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88254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Size-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400" dirty="0"/>
                            <a:t> AND/OR/XOR formulas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Induction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312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Boolean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400" dirty="0"/>
                            <a:t>-junta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Cauchy-Schwarz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5470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779ABEC-722D-A58E-E79A-C906E36F61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0118778"/>
                  </p:ext>
                </p:extLst>
              </p:nvPr>
            </p:nvGraphicFramePr>
            <p:xfrm>
              <a:off x="697191" y="2046985"/>
              <a:ext cx="10797617" cy="1886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60370">
                      <a:extLst>
                        <a:ext uri="{9D8B030D-6E8A-4147-A177-3AD203B41FA5}">
                          <a16:colId xmlns:a16="http://schemas.microsoft.com/office/drawing/2014/main" val="3119739007"/>
                        </a:ext>
                      </a:extLst>
                    </a:gridCol>
                    <a:gridCol w="2269742">
                      <a:extLst>
                        <a:ext uri="{9D8B030D-6E8A-4147-A177-3AD203B41FA5}">
                          <a16:colId xmlns:a16="http://schemas.microsoft.com/office/drawing/2014/main" val="1059654172"/>
                        </a:ext>
                      </a:extLst>
                    </a:gridCol>
                    <a:gridCol w="4567505">
                      <a:extLst>
                        <a:ext uri="{9D8B030D-6E8A-4147-A177-3AD203B41FA5}">
                          <a16:colId xmlns:a16="http://schemas.microsoft.com/office/drawing/2014/main" val="1001423579"/>
                        </a:ext>
                      </a:extLst>
                    </a:gridCol>
                  </a:tblGrid>
                  <a:tr h="476822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5000" t="-8861" r="-202688" b="-318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Proof technique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3774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" t="-114667" r="-173231" b="-23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5000" t="-114667" r="-202688" b="-23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Decompose as sum over leaves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8825423"/>
                      </a:ext>
                    </a:extLst>
                  </a:tr>
                  <a:tr h="4819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" t="-203797" r="-173231" b="-124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5000" t="-203797" r="-202688" b="-124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Induction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312386"/>
                      </a:ext>
                    </a:extLst>
                  </a:tr>
                  <a:tr h="4708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" t="-307692" r="-173231" b="-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5000" t="-307692" r="-202688" b="-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Cauchy-Schwarz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54700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442FE45-AFDC-7F98-4CF3-4639089FE2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90122"/>
                <a:ext cx="10515600" cy="201641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Theorem:</a:t>
                </a:r>
                <a:r>
                  <a:rPr lang="en-US" dirty="0"/>
                  <a:t> Can fool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using a seed of 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‖</m:t>
                                    </m:r>
                                  </m:e>
                                </m:acc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‖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lit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b="1" dirty="0"/>
              </a:p>
              <a:p>
                <a:r>
                  <a:rPr lang="en-US" b="1" dirty="0"/>
                  <a:t>Theorem: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-concentrated on a set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‖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Fourier coefficients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442FE45-AFDC-7F98-4CF3-4639089FE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90122"/>
                <a:ext cx="10515600" cy="2016410"/>
              </a:xfrm>
              <a:blipFill>
                <a:blip r:embed="rId4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47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75C992-3AD7-0EA8-54F9-E49BEB6BF9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Concentration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Learnability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75C992-3AD7-0EA8-54F9-E49BEB6BF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27479-6479-DE94-3447-1DA004F5BC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7584" y="1825625"/>
                <a:ext cx="109728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b="1" dirty="0"/>
                  <a:t>Theorem</a:t>
                </a:r>
                <a:r>
                  <a:rPr lang="en-US" dirty="0"/>
                  <a:t> (</a:t>
                </a:r>
                <a:r>
                  <a:rPr lang="en-US" dirty="0" err="1"/>
                  <a:t>Linial</a:t>
                </a:r>
                <a:r>
                  <a:rPr lang="en-US" dirty="0"/>
                  <a:t>-Mansour-Nisan):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-concentrated up to degree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can be </a:t>
                </a:r>
                <a:r>
                  <a:rPr lang="en-US" dirty="0">
                    <a:solidFill>
                      <a:schemeClr val="accent1"/>
                    </a:solidFill>
                  </a:rPr>
                  <a:t>learned from random examples</a:t>
                </a:r>
                <a:r>
                  <a:rPr lang="en-US" dirty="0"/>
                  <a:t> in 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Theorem</a:t>
                </a:r>
                <a:r>
                  <a:rPr lang="en-US" dirty="0"/>
                  <a:t> (Goldreich-Levin): Given query access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we can </a:t>
                </a:r>
                <a:r>
                  <a:rPr lang="en-US" dirty="0">
                    <a:solidFill>
                      <a:schemeClr val="accent1"/>
                    </a:solidFill>
                  </a:rPr>
                  <a:t>find</a:t>
                </a:r>
                <a:r>
                  <a:rPr lang="en-US" dirty="0"/>
                  <a:t>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in time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Theorem</a:t>
                </a:r>
                <a:r>
                  <a:rPr lang="en-US" dirty="0"/>
                  <a:t> (</a:t>
                </a:r>
                <a:r>
                  <a:rPr lang="en-US" dirty="0" err="1"/>
                  <a:t>Kushilevitz</a:t>
                </a:r>
                <a:r>
                  <a:rPr lang="en-US" dirty="0"/>
                  <a:t>-Mansour):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-concentrated on a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Fourier coefficients,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can be </a:t>
                </a:r>
                <a:r>
                  <a:rPr lang="en-US" dirty="0">
                    <a:solidFill>
                      <a:schemeClr val="accent1"/>
                    </a:solidFill>
                  </a:rPr>
                  <a:t>learned from queries</a:t>
                </a:r>
                <a:r>
                  <a:rPr lang="en-US" dirty="0"/>
                  <a:t> in time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poly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27479-6479-DE94-3447-1DA004F5BC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7584" y="1825625"/>
                <a:ext cx="10972800" cy="4351338"/>
              </a:xfrm>
              <a:blipFill>
                <a:blip r:embed="rId3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82E2A-913F-7722-97D4-80705ABB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be 4">
                <a:extLst>
                  <a:ext uri="{FF2B5EF4-FFF2-40B4-BE49-F238E27FC236}">
                    <a16:creationId xmlns:a16="http://schemas.microsoft.com/office/drawing/2014/main" id="{0F94BF31-C669-72C2-914A-4E75D5F08E92}"/>
                  </a:ext>
                </a:extLst>
              </p:cNvPr>
              <p:cNvSpPr/>
              <p:nvPr/>
            </p:nvSpPr>
            <p:spPr>
              <a:xfrm>
                <a:off x="9720864" y="343121"/>
                <a:ext cx="1325563" cy="1325563"/>
              </a:xfrm>
              <a:prstGeom prst="cub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ube 4">
                <a:extLst>
                  <a:ext uri="{FF2B5EF4-FFF2-40B4-BE49-F238E27FC236}">
                    <a16:creationId xmlns:a16="http://schemas.microsoft.com/office/drawing/2014/main" id="{0F94BF31-C669-72C2-914A-4E75D5F08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864" y="343121"/>
                <a:ext cx="1325563" cy="1325563"/>
              </a:xfrm>
              <a:prstGeom prst="cub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7010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606D-2DB8-4818-1801-F13CB0C14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E1EEE-C654-BF6C-34B7-D97C7D2D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2692F-3E91-AE3A-0DAB-A723F8D5F313}"/>
              </a:ext>
            </a:extLst>
          </p:cNvPr>
          <p:cNvSpPr/>
          <p:nvPr/>
        </p:nvSpPr>
        <p:spPr>
          <a:xfrm>
            <a:off x="3326119" y="368333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Spectral concentration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B08722-0154-B008-22F5-9659E9E684A6}"/>
              </a:ext>
            </a:extLst>
          </p:cNvPr>
          <p:cNvSpPr/>
          <p:nvPr/>
        </p:nvSpPr>
        <p:spPr>
          <a:xfrm>
            <a:off x="1452574" y="5564637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Learnability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00140A-4B8F-7909-2720-892F75F5BE08}"/>
              </a:ext>
            </a:extLst>
          </p:cNvPr>
          <p:cNvSpPr/>
          <p:nvPr/>
        </p:nvSpPr>
        <p:spPr>
          <a:xfrm>
            <a:off x="7158903" y="424316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Fourier growth bound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3F05F0-77EE-5147-B90F-A198700BD0A7}"/>
              </a:ext>
            </a:extLst>
          </p:cNvPr>
          <p:cNvSpPr/>
          <p:nvPr/>
        </p:nvSpPr>
        <p:spPr>
          <a:xfrm>
            <a:off x="8462143" y="578592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4FE417-3FF0-5E36-8224-98218D3F7EDB}"/>
              </a:ext>
            </a:extLst>
          </p:cNvPr>
          <p:cNvSpPr/>
          <p:nvPr/>
        </p:nvSpPr>
        <p:spPr>
          <a:xfrm>
            <a:off x="3463993" y="1542982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influence bound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CA6552-EDE9-4102-A3D3-C4AD308245DE}"/>
              </a:ext>
            </a:extLst>
          </p:cNvPr>
          <p:cNvSpPr/>
          <p:nvPr/>
        </p:nvSpPr>
        <p:spPr>
          <a:xfrm>
            <a:off x="5894192" y="383123"/>
            <a:ext cx="243522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Simplification under random restrictions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EECBA4-5EAB-20F0-D317-98DAF91F4D2D}"/>
              </a:ext>
            </a:extLst>
          </p:cNvPr>
          <p:cNvSpPr/>
          <p:nvPr/>
        </p:nvSpPr>
        <p:spPr>
          <a:xfrm>
            <a:off x="480688" y="2699572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Noise sensitivity bound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7E90EE-5180-5179-3BA3-080F7EB375E1}"/>
              </a:ext>
            </a:extLst>
          </p:cNvPr>
          <p:cNvSpPr/>
          <p:nvPr/>
        </p:nvSpPr>
        <p:spPr>
          <a:xfrm>
            <a:off x="8997153" y="590928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Fourier 1-norm bound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41C208-291B-2F65-35F4-4AD9171AAE9C}"/>
              </a:ext>
            </a:extLst>
          </p:cNvPr>
          <p:cNvSpPr/>
          <p:nvPr/>
        </p:nvSpPr>
        <p:spPr>
          <a:xfrm>
            <a:off x="890892" y="436602"/>
            <a:ext cx="243522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Monotonicity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0F9027-3FFC-851A-28D8-3D6A98B09343}"/>
              </a:ext>
            </a:extLst>
          </p:cNvPr>
          <p:cNvCxnSpPr>
            <a:cxnSpLocks/>
          </p:cNvCxnSpPr>
          <p:nvPr/>
        </p:nvCxnSpPr>
        <p:spPr>
          <a:xfrm>
            <a:off x="2813717" y="1223112"/>
            <a:ext cx="480774" cy="3198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67E034-2F48-9BEC-74C4-930CB9C40E58}"/>
              </a:ext>
            </a:extLst>
          </p:cNvPr>
          <p:cNvCxnSpPr>
            <a:cxnSpLocks/>
          </p:cNvCxnSpPr>
          <p:nvPr/>
        </p:nvCxnSpPr>
        <p:spPr>
          <a:xfrm flipH="1">
            <a:off x="2403835" y="2088588"/>
            <a:ext cx="890656" cy="5181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B06BA7-8B64-86FF-7F02-BB9133C25306}"/>
              </a:ext>
            </a:extLst>
          </p:cNvPr>
          <p:cNvCxnSpPr>
            <a:cxnSpLocks/>
          </p:cNvCxnSpPr>
          <p:nvPr/>
        </p:nvCxnSpPr>
        <p:spPr>
          <a:xfrm flipH="1">
            <a:off x="4406887" y="2433462"/>
            <a:ext cx="99409" cy="1120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719D7-E397-2B26-2A6F-089C4911FA5E}"/>
              </a:ext>
            </a:extLst>
          </p:cNvPr>
          <p:cNvCxnSpPr>
            <a:cxnSpLocks/>
          </p:cNvCxnSpPr>
          <p:nvPr/>
        </p:nvCxnSpPr>
        <p:spPr>
          <a:xfrm>
            <a:off x="2585272" y="3227473"/>
            <a:ext cx="571923" cy="326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0CACEF2-96AD-D8A5-196B-7B163AF441C0}"/>
              </a:ext>
            </a:extLst>
          </p:cNvPr>
          <p:cNvCxnSpPr>
            <a:cxnSpLocks/>
          </p:cNvCxnSpPr>
          <p:nvPr/>
        </p:nvCxnSpPr>
        <p:spPr>
          <a:xfrm flipH="1">
            <a:off x="3022848" y="4545386"/>
            <a:ext cx="454100" cy="8307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C905F53-3545-FDC6-1404-E4E2D3562513}"/>
              </a:ext>
            </a:extLst>
          </p:cNvPr>
          <p:cNvCxnSpPr>
            <a:cxnSpLocks/>
          </p:cNvCxnSpPr>
          <p:nvPr/>
        </p:nvCxnSpPr>
        <p:spPr>
          <a:xfrm flipH="1">
            <a:off x="5597001" y="1201059"/>
            <a:ext cx="447907" cy="458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A010D27-53EB-FEA8-8345-33F25573664F}"/>
              </a:ext>
            </a:extLst>
          </p:cNvPr>
          <p:cNvCxnSpPr>
            <a:cxnSpLocks/>
          </p:cNvCxnSpPr>
          <p:nvPr/>
        </p:nvCxnSpPr>
        <p:spPr>
          <a:xfrm flipH="1">
            <a:off x="5459705" y="1213270"/>
            <a:ext cx="1432864" cy="2316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E5A2984-B68D-E79F-28FE-E19BA045433C}"/>
              </a:ext>
            </a:extLst>
          </p:cNvPr>
          <p:cNvCxnSpPr>
            <a:cxnSpLocks/>
          </p:cNvCxnSpPr>
          <p:nvPr/>
        </p:nvCxnSpPr>
        <p:spPr>
          <a:xfrm>
            <a:off x="5565767" y="4028893"/>
            <a:ext cx="1447775" cy="4394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D221BF8-5FE9-BD34-B34C-852DBB4A987D}"/>
              </a:ext>
            </a:extLst>
          </p:cNvPr>
          <p:cNvCxnSpPr>
            <a:cxnSpLocks/>
          </p:cNvCxnSpPr>
          <p:nvPr/>
        </p:nvCxnSpPr>
        <p:spPr>
          <a:xfrm>
            <a:off x="8559538" y="5148554"/>
            <a:ext cx="268073" cy="502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E381101-CF7D-9B1D-A8EC-322283269F87}"/>
              </a:ext>
            </a:extLst>
          </p:cNvPr>
          <p:cNvCxnSpPr>
            <a:cxnSpLocks/>
          </p:cNvCxnSpPr>
          <p:nvPr/>
        </p:nvCxnSpPr>
        <p:spPr>
          <a:xfrm>
            <a:off x="9726466" y="1571467"/>
            <a:ext cx="182714" cy="37172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DA977BC-49A7-80B4-1692-7AB738AE8459}"/>
              </a:ext>
            </a:extLst>
          </p:cNvPr>
          <p:cNvCxnSpPr>
            <a:cxnSpLocks/>
          </p:cNvCxnSpPr>
          <p:nvPr/>
        </p:nvCxnSpPr>
        <p:spPr>
          <a:xfrm flipH="1">
            <a:off x="5552415" y="1421075"/>
            <a:ext cx="3306820" cy="2368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A454F81-DFEA-D1E2-CA48-CE4E65D83A35}"/>
              </a:ext>
            </a:extLst>
          </p:cNvPr>
          <p:cNvCxnSpPr>
            <a:cxnSpLocks/>
          </p:cNvCxnSpPr>
          <p:nvPr/>
        </p:nvCxnSpPr>
        <p:spPr>
          <a:xfrm>
            <a:off x="7387043" y="1282045"/>
            <a:ext cx="372757" cy="27533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-up of a magnifying glass&#10;&#10;AI-generated content may be incorrect.">
            <a:extLst>
              <a:ext uri="{FF2B5EF4-FFF2-40B4-BE49-F238E27FC236}">
                <a16:creationId xmlns:a16="http://schemas.microsoft.com/office/drawing/2014/main" id="{ED4B088C-79E8-89B2-A970-94328B588A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68280" y="17489"/>
            <a:ext cx="2743200" cy="324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5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11111E-6 L -0.45312 0.137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56" y="6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C922916-FA4A-8D8A-9A84-ED94618E71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93889" y="360682"/>
                <a:ext cx="11208470" cy="1325563"/>
              </a:xfrm>
            </p:spPr>
            <p:txBody>
              <a:bodyPr>
                <a:normAutofit fontScale="9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Inf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sens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C922916-FA4A-8D8A-9A84-ED94618E7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93889" y="360682"/>
                <a:ext cx="1120847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B39B3-EF07-C35F-AE6A-56A3E1B1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0BC41F1-6D9E-D5FB-BCE3-31D9796A93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4933298"/>
                  </p:ext>
                </p:extLst>
              </p:nvPr>
            </p:nvGraphicFramePr>
            <p:xfrm>
              <a:off x="838987" y="2117980"/>
              <a:ext cx="10275214" cy="3941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99567">
                      <a:extLst>
                        <a:ext uri="{9D8B030D-6E8A-4147-A177-3AD203B41FA5}">
                          <a16:colId xmlns:a16="http://schemas.microsoft.com/office/drawing/2014/main" val="3119739007"/>
                        </a:ext>
                      </a:extLst>
                    </a:gridCol>
                    <a:gridCol w="2460377">
                      <a:extLst>
                        <a:ext uri="{9D8B030D-6E8A-4147-A177-3AD203B41FA5}">
                          <a16:colId xmlns:a16="http://schemas.microsoft.com/office/drawing/2014/main" val="1059654172"/>
                        </a:ext>
                      </a:extLst>
                    </a:gridCol>
                    <a:gridCol w="4015270">
                      <a:extLst>
                        <a:ext uri="{9D8B030D-6E8A-4147-A177-3AD203B41FA5}">
                          <a16:colId xmlns:a16="http://schemas.microsoft.com/office/drawing/2014/main" val="10014235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Bound on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d>
                            </m:oMath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Proof technique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377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Size-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400" dirty="0"/>
                            <a:t> decision trees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Sensitivity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88254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Width-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2400" dirty="0"/>
                            <a:t> DNFs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Sensitivity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312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 err="1"/>
                            <a:t>Unate</a:t>
                          </a:r>
                          <a:r>
                            <a:rPr lang="en-US" sz="2400" dirty="0"/>
                            <a:t> functions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Level-1 Fourier coefficients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5470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Unate size-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400" dirty="0"/>
                            <a:t> decision trees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func>
                                </m:e>
                              </m:rad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Level-1 Fourier coefficients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88572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Size-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AC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2400" dirty="0"/>
                            <a:t> circuits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Random restrictions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3518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Size-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400" dirty="0"/>
                            <a:t> De Morgan formulas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rad>
                                </m:e>
                              </m:d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Random restrictions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8092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Degree-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400" dirty="0"/>
                            <a:t> PTFs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Derivatives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96358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0BC41F1-6D9E-D5FB-BCE3-31D9796A93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4933298"/>
                  </p:ext>
                </p:extLst>
              </p:nvPr>
            </p:nvGraphicFramePr>
            <p:xfrm>
              <a:off x="838987" y="2117980"/>
              <a:ext cx="10275214" cy="3941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99567">
                      <a:extLst>
                        <a:ext uri="{9D8B030D-6E8A-4147-A177-3AD203B41FA5}">
                          <a16:colId xmlns:a16="http://schemas.microsoft.com/office/drawing/2014/main" val="3119739007"/>
                        </a:ext>
                      </a:extLst>
                    </a:gridCol>
                    <a:gridCol w="2460377">
                      <a:extLst>
                        <a:ext uri="{9D8B030D-6E8A-4147-A177-3AD203B41FA5}">
                          <a16:colId xmlns:a16="http://schemas.microsoft.com/office/drawing/2014/main" val="1059654172"/>
                        </a:ext>
                      </a:extLst>
                    </a:gridCol>
                    <a:gridCol w="4015270">
                      <a:extLst>
                        <a:ext uri="{9D8B030D-6E8A-4147-A177-3AD203B41FA5}">
                          <a16:colId xmlns:a16="http://schemas.microsoft.com/office/drawing/2014/main" val="100142357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703" t="-10667" r="-164109" b="-7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Proof technique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3774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0" t="-110667" r="-170994" b="-6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703" t="-110667" r="-164109" b="-6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Sensitivity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882542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0" t="-210667" r="-170994" b="-5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703" t="-210667" r="-164109" b="-5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Sensitivity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312386"/>
                      </a:ext>
                    </a:extLst>
                  </a:tr>
                  <a:tr h="461264">
                    <a:tc>
                      <a:txBody>
                        <a:bodyPr/>
                        <a:lstStyle/>
                        <a:p>
                          <a:r>
                            <a:rPr lang="en-US" sz="2400" dirty="0" err="1"/>
                            <a:t>Unate</a:t>
                          </a:r>
                          <a:r>
                            <a:rPr lang="en-US" sz="2400" dirty="0"/>
                            <a:t> functions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703" t="-306579" r="-164109" b="-45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Level-1 Fourier coefficients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5470069"/>
                      </a:ext>
                    </a:extLst>
                  </a:tr>
                  <a:tr h="534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0" t="-351136" r="-170994" b="-2965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703" t="-351136" r="-164109" b="-2965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Level-1 Fourier coefficients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8857291"/>
                      </a:ext>
                    </a:extLst>
                  </a:tr>
                  <a:tr h="4739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0" t="-515584" r="-170994" b="-238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703" t="-515584" r="-164109" b="-238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Random restrictions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3518407"/>
                      </a:ext>
                    </a:extLst>
                  </a:tr>
                  <a:tr h="4611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0" t="-623684" r="-170994" b="-14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703" t="-623684" r="-164109" b="-14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Random restrictions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8092377"/>
                      </a:ext>
                    </a:extLst>
                  </a:tr>
                  <a:tr h="6388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0" t="-523810" r="-17099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703" t="-523810" r="-16410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Derivatives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96358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636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1416-1AE6-7F58-30F6-D71054DD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175FD-B7A0-6A5B-10E8-7725E483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18410-B8ED-D564-29C5-4B01EC058446}"/>
              </a:ext>
            </a:extLst>
          </p:cNvPr>
          <p:cNvSpPr/>
          <p:nvPr/>
        </p:nvSpPr>
        <p:spPr>
          <a:xfrm>
            <a:off x="3326119" y="368333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Spectral concentration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85FBE4-F2B6-D1AA-6261-BD42ADE2C2A5}"/>
              </a:ext>
            </a:extLst>
          </p:cNvPr>
          <p:cNvSpPr/>
          <p:nvPr/>
        </p:nvSpPr>
        <p:spPr>
          <a:xfrm>
            <a:off x="1452574" y="5564637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Learnability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AC848D-FDB8-9E93-2BFB-927449301AD6}"/>
              </a:ext>
            </a:extLst>
          </p:cNvPr>
          <p:cNvSpPr/>
          <p:nvPr/>
        </p:nvSpPr>
        <p:spPr>
          <a:xfrm>
            <a:off x="7158903" y="424316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Fourier growth bound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0BC17B-1A99-A825-CF44-01DC0C61EF21}"/>
              </a:ext>
            </a:extLst>
          </p:cNvPr>
          <p:cNvSpPr/>
          <p:nvPr/>
        </p:nvSpPr>
        <p:spPr>
          <a:xfrm>
            <a:off x="8462143" y="578592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96A4D-F750-0EEF-6BDB-8C2871CBF5B3}"/>
              </a:ext>
            </a:extLst>
          </p:cNvPr>
          <p:cNvSpPr/>
          <p:nvPr/>
        </p:nvSpPr>
        <p:spPr>
          <a:xfrm>
            <a:off x="3463993" y="1542982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influence bound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BF361D-1D5A-40A3-49F1-C1D51869913A}"/>
              </a:ext>
            </a:extLst>
          </p:cNvPr>
          <p:cNvSpPr/>
          <p:nvPr/>
        </p:nvSpPr>
        <p:spPr>
          <a:xfrm>
            <a:off x="5894192" y="383123"/>
            <a:ext cx="243522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Simplification under random restrictions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D56197-0304-8C22-4454-5BA14BBD5E9C}"/>
              </a:ext>
            </a:extLst>
          </p:cNvPr>
          <p:cNvSpPr/>
          <p:nvPr/>
        </p:nvSpPr>
        <p:spPr>
          <a:xfrm>
            <a:off x="480688" y="2699572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Noise sensitivity bound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8E5C40-1CD6-3CC0-BCA8-FFC46951FACC}"/>
              </a:ext>
            </a:extLst>
          </p:cNvPr>
          <p:cNvSpPr/>
          <p:nvPr/>
        </p:nvSpPr>
        <p:spPr>
          <a:xfrm>
            <a:off x="8997153" y="590928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Fourier 1-norm bound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06267-7742-252D-626D-A5427C030118}"/>
              </a:ext>
            </a:extLst>
          </p:cNvPr>
          <p:cNvSpPr/>
          <p:nvPr/>
        </p:nvSpPr>
        <p:spPr>
          <a:xfrm>
            <a:off x="890892" y="436602"/>
            <a:ext cx="243522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Monotonicity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3A227B-BB95-5DF5-7CB6-61C5638BCE1D}"/>
              </a:ext>
            </a:extLst>
          </p:cNvPr>
          <p:cNvCxnSpPr>
            <a:cxnSpLocks/>
          </p:cNvCxnSpPr>
          <p:nvPr/>
        </p:nvCxnSpPr>
        <p:spPr>
          <a:xfrm>
            <a:off x="2813717" y="1223112"/>
            <a:ext cx="480774" cy="3198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3C5025-B100-520F-0472-313A0692D8AA}"/>
              </a:ext>
            </a:extLst>
          </p:cNvPr>
          <p:cNvCxnSpPr>
            <a:cxnSpLocks/>
          </p:cNvCxnSpPr>
          <p:nvPr/>
        </p:nvCxnSpPr>
        <p:spPr>
          <a:xfrm flipH="1">
            <a:off x="2403835" y="2088588"/>
            <a:ext cx="890656" cy="5181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5A187C-3BA3-8506-3819-2D546E0BFF35}"/>
              </a:ext>
            </a:extLst>
          </p:cNvPr>
          <p:cNvCxnSpPr>
            <a:cxnSpLocks/>
          </p:cNvCxnSpPr>
          <p:nvPr/>
        </p:nvCxnSpPr>
        <p:spPr>
          <a:xfrm flipH="1">
            <a:off x="4406887" y="2433462"/>
            <a:ext cx="99409" cy="1120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D69F315-C6EE-17B0-E854-B9D2FD953DD5}"/>
              </a:ext>
            </a:extLst>
          </p:cNvPr>
          <p:cNvCxnSpPr>
            <a:cxnSpLocks/>
          </p:cNvCxnSpPr>
          <p:nvPr/>
        </p:nvCxnSpPr>
        <p:spPr>
          <a:xfrm>
            <a:off x="2585272" y="3227473"/>
            <a:ext cx="571923" cy="326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CEAA09-5166-67F7-5D8D-BF413244CD3B}"/>
              </a:ext>
            </a:extLst>
          </p:cNvPr>
          <p:cNvCxnSpPr>
            <a:cxnSpLocks/>
          </p:cNvCxnSpPr>
          <p:nvPr/>
        </p:nvCxnSpPr>
        <p:spPr>
          <a:xfrm flipH="1">
            <a:off x="3022848" y="4545386"/>
            <a:ext cx="454100" cy="8307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FAFE244-7848-A56A-2828-B78308EB81A7}"/>
              </a:ext>
            </a:extLst>
          </p:cNvPr>
          <p:cNvCxnSpPr>
            <a:cxnSpLocks/>
          </p:cNvCxnSpPr>
          <p:nvPr/>
        </p:nvCxnSpPr>
        <p:spPr>
          <a:xfrm flipH="1">
            <a:off x="5597001" y="1201059"/>
            <a:ext cx="447907" cy="458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86976C6-7386-0641-8FBA-8455FF2EB134}"/>
              </a:ext>
            </a:extLst>
          </p:cNvPr>
          <p:cNvCxnSpPr>
            <a:cxnSpLocks/>
          </p:cNvCxnSpPr>
          <p:nvPr/>
        </p:nvCxnSpPr>
        <p:spPr>
          <a:xfrm flipH="1">
            <a:off x="5459705" y="1213270"/>
            <a:ext cx="1432864" cy="2316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3D48BBF-D80D-21AD-346C-6407EDE8F521}"/>
              </a:ext>
            </a:extLst>
          </p:cNvPr>
          <p:cNvCxnSpPr>
            <a:cxnSpLocks/>
          </p:cNvCxnSpPr>
          <p:nvPr/>
        </p:nvCxnSpPr>
        <p:spPr>
          <a:xfrm>
            <a:off x="5565767" y="4028893"/>
            <a:ext cx="1447775" cy="4394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33AE9E-00F0-FE02-F855-C78804937ECA}"/>
              </a:ext>
            </a:extLst>
          </p:cNvPr>
          <p:cNvCxnSpPr>
            <a:cxnSpLocks/>
          </p:cNvCxnSpPr>
          <p:nvPr/>
        </p:nvCxnSpPr>
        <p:spPr>
          <a:xfrm>
            <a:off x="8559538" y="5148554"/>
            <a:ext cx="268073" cy="502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096CBAD-6D4E-0714-1799-797A19B65ECF}"/>
              </a:ext>
            </a:extLst>
          </p:cNvPr>
          <p:cNvCxnSpPr>
            <a:cxnSpLocks/>
          </p:cNvCxnSpPr>
          <p:nvPr/>
        </p:nvCxnSpPr>
        <p:spPr>
          <a:xfrm>
            <a:off x="9726466" y="1571467"/>
            <a:ext cx="182714" cy="37172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71C94A9-F67B-0701-21A8-CCA831A3ABD5}"/>
              </a:ext>
            </a:extLst>
          </p:cNvPr>
          <p:cNvCxnSpPr>
            <a:cxnSpLocks/>
          </p:cNvCxnSpPr>
          <p:nvPr/>
        </p:nvCxnSpPr>
        <p:spPr>
          <a:xfrm flipH="1">
            <a:off x="5552415" y="1421075"/>
            <a:ext cx="3306820" cy="2368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D762B48-255F-4AEB-8C32-22E7D75FB0E5}"/>
              </a:ext>
            </a:extLst>
          </p:cNvPr>
          <p:cNvCxnSpPr>
            <a:cxnSpLocks/>
          </p:cNvCxnSpPr>
          <p:nvPr/>
        </p:nvCxnSpPr>
        <p:spPr>
          <a:xfrm>
            <a:off x="7387043" y="1282045"/>
            <a:ext cx="372757" cy="27533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-up of a magnifying glass&#10;&#10;AI-generated content may be incorrect.">
            <a:extLst>
              <a:ext uri="{FF2B5EF4-FFF2-40B4-BE49-F238E27FC236}">
                <a16:creationId xmlns:a16="http://schemas.microsoft.com/office/drawing/2014/main" id="{9990E1D7-0343-0220-AA0F-48FD1BDE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6433" y="984048"/>
            <a:ext cx="2743200" cy="324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7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1.11111E-6 L -0.24179 0.1726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96" y="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98B9-5F01-3F22-1814-8E7DEB8C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 sensitivity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14EC77-677D-170A-AB9D-1C8515AC4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7712" y="1825624"/>
                <a:ext cx="11288806" cy="472309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NS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uniform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with prob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Theorem: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NS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-concentrated up to degree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14EC77-677D-170A-AB9D-1C8515AC4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7712" y="1825624"/>
                <a:ext cx="11288806" cy="4723093"/>
              </a:xfrm>
              <a:blipFill>
                <a:blip r:embed="rId2"/>
                <a:stretch>
                  <a:fillRect l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8DBC5-C793-AE2C-F2E2-BD2786E7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F2FBB60-A559-0106-A135-DEEC3A4BB8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9605814"/>
                  </p:ext>
                </p:extLst>
              </p:nvPr>
            </p:nvGraphicFramePr>
            <p:xfrm>
              <a:off x="3465413" y="3007452"/>
              <a:ext cx="5393403" cy="16210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3650">
                      <a:extLst>
                        <a:ext uri="{9D8B030D-6E8A-4147-A177-3AD203B41FA5}">
                          <a16:colId xmlns:a16="http://schemas.microsoft.com/office/drawing/2014/main" val="3119739007"/>
                        </a:ext>
                      </a:extLst>
                    </a:gridCol>
                    <a:gridCol w="2729753">
                      <a:extLst>
                        <a:ext uri="{9D8B030D-6E8A-4147-A177-3AD203B41FA5}">
                          <a16:colId xmlns:a16="http://schemas.microsoft.com/office/drawing/2014/main" val="10596541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Bound on</a:t>
                          </a:r>
                          <a:r>
                            <a:rPr lang="en-US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 b="0" i="0" baseline="0" smtClean="0">
                                      <a:latin typeface="Cambria Math" panose="02040503050406030204" pitchFamily="18" charset="0"/>
                                    </a:rPr>
                                    <m:t>NS</m:t>
                                  </m:r>
                                </m:e>
                                <m:sub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sub>
                              </m:sSub>
                              <m:r>
                                <a:rPr lang="en-US" sz="2400" b="0" i="1" baseline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baseline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baseline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377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LTFs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rad>
                                </m:e>
                              </m:d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88254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Degree-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400" dirty="0"/>
                            <a:t> PTFs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3123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F2FBB60-A559-0106-A135-DEEC3A4BB8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9605814"/>
                  </p:ext>
                </p:extLst>
              </p:nvPr>
            </p:nvGraphicFramePr>
            <p:xfrm>
              <a:off x="3465413" y="3007452"/>
              <a:ext cx="5393403" cy="16210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3650">
                      <a:extLst>
                        <a:ext uri="{9D8B030D-6E8A-4147-A177-3AD203B41FA5}">
                          <a16:colId xmlns:a16="http://schemas.microsoft.com/office/drawing/2014/main" val="3119739007"/>
                        </a:ext>
                      </a:extLst>
                    </a:gridCol>
                    <a:gridCol w="2729753">
                      <a:extLst>
                        <a:ext uri="{9D8B030D-6E8A-4147-A177-3AD203B41FA5}">
                          <a16:colId xmlns:a16="http://schemas.microsoft.com/office/drawing/2014/main" val="105965417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991" t="-10667" r="-893" b="-25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7377492"/>
                      </a:ext>
                    </a:extLst>
                  </a:tr>
                  <a:tr h="525082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LTFs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991" t="-95402" r="-893" b="-122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825423"/>
                      </a:ext>
                    </a:extLst>
                  </a:tr>
                  <a:tr h="6388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8" t="-161905" r="-103196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991" t="-161905" r="-893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03123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E021ED-DD96-E9B0-2012-78D402BD4ECF}"/>
                  </a:ext>
                </a:extLst>
              </p:cNvPr>
              <p:cNvSpPr txBox="1"/>
              <p:nvPr/>
            </p:nvSpPr>
            <p:spPr>
              <a:xfrm>
                <a:off x="5474692" y="588379"/>
                <a:ext cx="6331826" cy="6463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1000101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</a:rPr>
                  <a:t>1010000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</a:rPr>
                  <a:t>1110101110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0</a:t>
                </a:r>
                <a:r>
                  <a:rPr lang="en-US" dirty="0">
                    <a:latin typeface="Courier New" panose="02070309020205020404" pitchFamily="49" charset="0"/>
                  </a:rPr>
                  <a:t>10111110111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</a:rPr>
                  <a:t>0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1000101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0</a:t>
                </a:r>
                <a:r>
                  <a:rPr lang="en-US" dirty="0">
                    <a:latin typeface="Courier New" panose="02070309020205020404" pitchFamily="49" charset="0"/>
                  </a:rPr>
                  <a:t>1010000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0</a:t>
                </a:r>
                <a:r>
                  <a:rPr lang="en-US" dirty="0">
                    <a:latin typeface="Courier New" panose="02070309020205020404" pitchFamily="49" charset="0"/>
                  </a:rPr>
                  <a:t>1110101110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</a:rPr>
                  <a:t>10111110111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0</a:t>
                </a:r>
                <a:r>
                  <a:rPr lang="en-US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E021ED-DD96-E9B0-2012-78D402BD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692" y="588379"/>
                <a:ext cx="6331826" cy="646331"/>
              </a:xfrm>
              <a:prstGeom prst="rect">
                <a:avLst/>
              </a:prstGeom>
              <a:blipFill>
                <a:blip r:embed="rId4"/>
                <a:stretch>
                  <a:fillRect t="-3704" b="-138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19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23E0-4AFE-0F63-889F-E7B40920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Hypercontractivity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A8B6A-9BDC-1F83-8BBE-D2180AC19D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776" y="1825625"/>
                <a:ext cx="11268636" cy="445195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-correlated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independently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Hypercontractivity Theorem: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b="1" dirty="0"/>
              </a:p>
              <a:p>
                <a:r>
                  <a:rPr lang="en-US" dirty="0"/>
                  <a:t>Alternate form: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Corollaries in terms of degree,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deg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A8B6A-9BDC-1F83-8BBE-D2180AC19D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776" y="1825625"/>
                <a:ext cx="11268636" cy="4451958"/>
              </a:xfrm>
              <a:blipFill>
                <a:blip r:embed="rId2"/>
                <a:stretch>
                  <a:fillRect l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ADDDD-5345-C2A1-7815-CF245625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5079C2-1280-89B2-6740-604E48B2A9BC}"/>
                  </a:ext>
                </a:extLst>
              </p:cNvPr>
              <p:cNvSpPr txBox="1"/>
              <p:nvPr/>
            </p:nvSpPr>
            <p:spPr>
              <a:xfrm>
                <a:off x="5474692" y="588379"/>
                <a:ext cx="6331826" cy="6463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1000101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</a:rPr>
                  <a:t>1010000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</a:rPr>
                  <a:t>1110101110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0</a:t>
                </a:r>
                <a:r>
                  <a:rPr lang="en-US" dirty="0">
                    <a:latin typeface="Courier New" panose="02070309020205020404" pitchFamily="49" charset="0"/>
                  </a:rPr>
                  <a:t>10111110111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</a:rPr>
                  <a:t>0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1000101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0</a:t>
                </a:r>
                <a:r>
                  <a:rPr lang="en-US" dirty="0">
                    <a:latin typeface="Courier New" panose="02070309020205020404" pitchFamily="49" charset="0"/>
                  </a:rPr>
                  <a:t>1010000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0</a:t>
                </a:r>
                <a:r>
                  <a:rPr lang="en-US" dirty="0">
                    <a:latin typeface="Courier New" panose="02070309020205020404" pitchFamily="49" charset="0"/>
                  </a:rPr>
                  <a:t>1110101110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</a:rPr>
                  <a:t>10111110111</a:t>
                </a:r>
                <a:r>
                  <a:rPr lang="en-US" dirty="0">
                    <a:highlight>
                      <a:srgbClr val="FFFFA3"/>
                    </a:highlight>
                    <a:latin typeface="Courier New" panose="02070309020205020404" pitchFamily="49" charset="0"/>
                  </a:rPr>
                  <a:t>0</a:t>
                </a:r>
                <a:r>
                  <a:rPr lang="en-US" dirty="0">
                    <a:latin typeface="Courier New" panose="02070309020205020404" pitchFamily="49" charset="0"/>
                  </a:rPr>
                  <a:t>0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5079C2-1280-89B2-6740-604E48B2A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692" y="588379"/>
                <a:ext cx="6331826" cy="646331"/>
              </a:xfrm>
              <a:prstGeom prst="rect">
                <a:avLst/>
              </a:prstGeom>
              <a:blipFill>
                <a:blip r:embed="rId3"/>
                <a:stretch>
                  <a:fillRect t="-3704" b="-138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281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2B08-A749-9099-3D1F-C3138E7F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Friedgut’s</a:t>
            </a:r>
            <a:r>
              <a:rPr lang="en-US" dirty="0"/>
              <a:t> junta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3FE3C8-7A70-E973-0400-F9991C62F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:{±1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±1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b="1" dirty="0" err="1"/>
                  <a:t>Friedgut’s</a:t>
                </a:r>
                <a:r>
                  <a:rPr lang="en-US" b="1" dirty="0"/>
                  <a:t> Junta Theorem: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close to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-junta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3FE3C8-7A70-E973-0400-F9991C62F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A9223-0190-1827-7BD6-69938FE4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27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8441-276E-FEAD-9E1C-6C41EE30B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coin flipping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47242-B652-FE96-9F4C-153F249292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0443" y="1825625"/>
                <a:ext cx="1156942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±1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b="1" dirty="0" err="1"/>
                  <a:t>Poincaré</a:t>
                </a:r>
                <a:r>
                  <a:rPr lang="en-US" b="1" dirty="0"/>
                  <a:t> Inequality: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Kahn-Kalai-</a:t>
                </a:r>
                <a:r>
                  <a:rPr lang="en-US" b="1" dirty="0" err="1"/>
                  <a:t>Linial</a:t>
                </a:r>
                <a:r>
                  <a:rPr lang="en-US" b="1" dirty="0"/>
                  <a:t> Theorem: </a:t>
                </a:r>
                <a:r>
                  <a:rPr lang="en-US" dirty="0"/>
                  <a:t>There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Inf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Corollary: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near-balanced,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1"/>
                    </a:solidFill>
                  </a:rPr>
                  <a:t>not resilient </a:t>
                </a:r>
                <a:r>
                  <a:rPr lang="en-US" dirty="0"/>
                  <a:t>against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cheaters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47242-B652-FE96-9F4C-153F24929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443" y="1825625"/>
                <a:ext cx="11569429" cy="4351338"/>
              </a:xfrm>
              <a:blipFill>
                <a:blip r:embed="rId2"/>
                <a:stretch>
                  <a:fillRect l="-949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09F68-9FB2-B9EC-7888-EBA5109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5B204A-66E5-C9F1-5558-2404C50D900F}"/>
              </a:ext>
            </a:extLst>
          </p:cNvPr>
          <p:cNvGrpSpPr/>
          <p:nvPr/>
        </p:nvGrpSpPr>
        <p:grpSpPr>
          <a:xfrm>
            <a:off x="8675660" y="171290"/>
            <a:ext cx="3291708" cy="3064214"/>
            <a:chOff x="8675660" y="171290"/>
            <a:chExt cx="3291708" cy="30642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DD25786-2917-20BF-599C-1CAD111EB326}"/>
                </a:ext>
              </a:extLst>
            </p:cNvPr>
            <p:cNvGrpSpPr/>
            <p:nvPr/>
          </p:nvGrpSpPr>
          <p:grpSpPr>
            <a:xfrm>
              <a:off x="8675660" y="171290"/>
              <a:ext cx="3291708" cy="2620935"/>
              <a:chOff x="7832205" y="230188"/>
              <a:chExt cx="3291708" cy="2620935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55DA84-71CE-CDCC-48A0-F93A0BF4A78E}"/>
                  </a:ext>
                </a:extLst>
              </p:cNvPr>
              <p:cNvSpPr txBox="1"/>
              <p:nvPr/>
            </p:nvSpPr>
            <p:spPr>
              <a:xfrm>
                <a:off x="7832205" y="812854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F44699-E3FA-9CC9-5585-525130927095}"/>
                  </a:ext>
                </a:extLst>
              </p:cNvPr>
              <p:cNvSpPr txBox="1"/>
              <p:nvPr/>
            </p:nvSpPr>
            <p:spPr>
              <a:xfrm>
                <a:off x="7832205" y="1718965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81D05B-3635-7C41-940D-510CB4E7A686}"/>
                  </a:ext>
                </a:extLst>
              </p:cNvPr>
              <p:cNvSpPr txBox="1"/>
              <p:nvPr/>
            </p:nvSpPr>
            <p:spPr>
              <a:xfrm>
                <a:off x="10001647" y="2081682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234487-40D3-E339-921A-DD93EEC3EFD6}"/>
                  </a:ext>
                </a:extLst>
              </p:cNvPr>
              <p:cNvSpPr txBox="1"/>
              <p:nvPr/>
            </p:nvSpPr>
            <p:spPr>
              <a:xfrm>
                <a:off x="8971893" y="230188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90B942-29D8-BA13-FAAD-F403E2495FC3}"/>
                  </a:ext>
                </a:extLst>
              </p:cNvPr>
              <p:cNvSpPr txBox="1"/>
              <p:nvPr/>
            </p:nvSpPr>
            <p:spPr>
              <a:xfrm>
                <a:off x="10170099" y="899243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😈</a:t>
                </a:r>
              </a:p>
            </p:txBody>
          </p:sp>
          <p:pic>
            <p:nvPicPr>
              <p:cNvPr id="5" name="Picture 4" descr="A black and white photo of a coin&#10;&#10;Description automatically generated">
                <a:extLst>
                  <a:ext uri="{FF2B5EF4-FFF2-40B4-BE49-F238E27FC236}">
                    <a16:creationId xmlns:a16="http://schemas.microsoft.com/office/drawing/2014/main" id="{7FAE722E-9D1D-82AD-0042-53669AB29E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8513" y="2225695"/>
                <a:ext cx="335748" cy="335748"/>
              </a:xfrm>
              <a:prstGeom prst="rect">
                <a:avLst/>
              </a:prstGeom>
            </p:spPr>
          </p:pic>
        </p:grpSp>
        <p:pic>
          <p:nvPicPr>
            <p:cNvPr id="6" name="Picture 5" descr="A black and white photo of a coin&#10;&#10;Description automatically generated">
              <a:extLst>
                <a:ext uri="{FF2B5EF4-FFF2-40B4-BE49-F238E27FC236}">
                  <a16:creationId xmlns:a16="http://schemas.microsoft.com/office/drawing/2014/main" id="{87713BC3-2E34-ACE1-9FEA-D2DB4945C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1968" y="1153733"/>
              <a:ext cx="335748" cy="335748"/>
            </a:xfrm>
            <a:prstGeom prst="rect">
              <a:avLst/>
            </a:prstGeom>
          </p:spPr>
        </p:pic>
        <p:pic>
          <p:nvPicPr>
            <p:cNvPr id="7" name="Picture 6" descr="A black and white photo of a coin&#10;&#10;Description automatically generated">
              <a:extLst>
                <a:ext uri="{FF2B5EF4-FFF2-40B4-BE49-F238E27FC236}">
                  <a16:creationId xmlns:a16="http://schemas.microsoft.com/office/drawing/2014/main" id="{C73A7697-FC79-21E5-DAD0-047B74A35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40859" y="556010"/>
              <a:ext cx="335748" cy="335748"/>
            </a:xfrm>
            <a:prstGeom prst="rect">
              <a:avLst/>
            </a:prstGeom>
          </p:spPr>
        </p:pic>
        <p:pic>
          <p:nvPicPr>
            <p:cNvPr id="8" name="Picture 7" descr="A black and white photo of a coin&#10;&#10;Description automatically generated">
              <a:extLst>
                <a:ext uri="{FF2B5EF4-FFF2-40B4-BE49-F238E27FC236}">
                  <a16:creationId xmlns:a16="http://schemas.microsoft.com/office/drawing/2014/main" id="{A7FA4D5B-4C3B-9991-C98C-16C72561F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8018" y="2429508"/>
              <a:ext cx="335748" cy="335748"/>
            </a:xfrm>
            <a:prstGeom prst="rect">
              <a:avLst/>
            </a:prstGeom>
          </p:spPr>
        </p:pic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70490931-1D3F-475D-23A8-94955449F37A}"/>
                </a:ext>
              </a:extLst>
            </p:cNvPr>
            <p:cNvSpPr/>
            <p:nvPr/>
          </p:nvSpPr>
          <p:spPr>
            <a:xfrm>
              <a:off x="9815348" y="1326931"/>
              <a:ext cx="890707" cy="767851"/>
            </a:xfrm>
            <a:prstGeom prst="hex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59470F-F3B4-83EE-383C-EFEAFAFEC9BC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10292255" y="940731"/>
              <a:ext cx="0" cy="284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73E9FC0-ED1B-EE34-AE05-55EA0A264C69}"/>
                </a:ext>
              </a:extLst>
            </p:cNvPr>
            <p:cNvCxnSpPr>
              <a:cxnSpLocks/>
            </p:cNvCxnSpPr>
            <p:nvPr/>
          </p:nvCxnSpPr>
          <p:spPr>
            <a:xfrm>
              <a:off x="9448800" y="1321607"/>
              <a:ext cx="374786" cy="1543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F049A5C-8DBA-FF24-1DCD-2DB0D2FC1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5018" y="1897213"/>
              <a:ext cx="288568" cy="595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29BA4BC-F6C0-F98A-69C3-C3F7339048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1958" y="2229719"/>
              <a:ext cx="85330" cy="5625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DD10C3-1C82-27DB-7A07-38C9BC583E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03092" y="1956748"/>
              <a:ext cx="310462" cy="2575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E2AE3BB-FBB9-CF9E-70B7-392F7842E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9162" y="1377465"/>
              <a:ext cx="266730" cy="1120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29421B1-FD0E-A949-C72E-50D1157CDDA8}"/>
                </a:ext>
              </a:extLst>
            </p:cNvPr>
            <p:cNvSpPr txBox="1"/>
            <p:nvPr/>
          </p:nvSpPr>
          <p:spPr>
            <a:xfrm>
              <a:off x="9436162" y="2866172"/>
              <a:ext cx="133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Heads/Tails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4070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75E7-B5BF-A802-FAC4-9B027183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coin flipping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CC04EE-5DFD-A0DA-D805-1A63FFCE9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4497" y="1904098"/>
                <a:ext cx="10849303" cy="45867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KKL is optimal due to Tribes. However…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:{±1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±1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can be computed by a size-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1"/>
                    </a:solidFill>
                  </a:rPr>
                  <a:t>decision tree</a:t>
                </a:r>
              </a:p>
              <a:p>
                <a:r>
                  <a:rPr lang="en-US" b="1" dirty="0"/>
                  <a:t>O’Donnell-Saks-Schramm-Servedio Inequality: </a:t>
                </a:r>
                <a:r>
                  <a:rPr lang="en-US" dirty="0"/>
                  <a:t>There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Inf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CC04EE-5DFD-A0DA-D805-1A63FFCE9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4497" y="1904098"/>
                <a:ext cx="10849303" cy="4586746"/>
              </a:xfrm>
              <a:blipFill>
                <a:blip r:embed="rId2"/>
                <a:stretch>
                  <a:fillRect l="-1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0DD33-B654-B35D-F9D4-20E7141A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54B618-375E-6109-806A-8E0C1571ADEC}"/>
              </a:ext>
            </a:extLst>
          </p:cNvPr>
          <p:cNvGrpSpPr/>
          <p:nvPr/>
        </p:nvGrpSpPr>
        <p:grpSpPr>
          <a:xfrm>
            <a:off x="8675660" y="171290"/>
            <a:ext cx="3291708" cy="3064214"/>
            <a:chOff x="8675660" y="171290"/>
            <a:chExt cx="3291708" cy="306421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7B3901C-9AF4-ECF9-9951-9E685045A30D}"/>
                </a:ext>
              </a:extLst>
            </p:cNvPr>
            <p:cNvGrpSpPr/>
            <p:nvPr/>
          </p:nvGrpSpPr>
          <p:grpSpPr>
            <a:xfrm>
              <a:off x="8675660" y="171290"/>
              <a:ext cx="3291708" cy="2620935"/>
              <a:chOff x="7832205" y="230188"/>
              <a:chExt cx="3291708" cy="2620935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FEA8BE-F7C3-938A-03CF-AC94E5392C48}"/>
                  </a:ext>
                </a:extLst>
              </p:cNvPr>
              <p:cNvSpPr txBox="1"/>
              <p:nvPr/>
            </p:nvSpPr>
            <p:spPr>
              <a:xfrm>
                <a:off x="7832205" y="812854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AD9E86-B310-36C5-0C3D-A18176CEBB57}"/>
                  </a:ext>
                </a:extLst>
              </p:cNvPr>
              <p:cNvSpPr txBox="1"/>
              <p:nvPr/>
            </p:nvSpPr>
            <p:spPr>
              <a:xfrm>
                <a:off x="7832205" y="1718965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487980-DAC0-86DA-41B6-3B5324D70228}"/>
                  </a:ext>
                </a:extLst>
              </p:cNvPr>
              <p:cNvSpPr txBox="1"/>
              <p:nvPr/>
            </p:nvSpPr>
            <p:spPr>
              <a:xfrm>
                <a:off x="10001647" y="2081682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A483FC-5838-6156-C0E2-FC86B8EF0ADD}"/>
                  </a:ext>
                </a:extLst>
              </p:cNvPr>
              <p:cNvSpPr txBox="1"/>
              <p:nvPr/>
            </p:nvSpPr>
            <p:spPr>
              <a:xfrm>
                <a:off x="8971893" y="230188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A2B41F-85A2-315F-E648-4F7C8E980951}"/>
                  </a:ext>
                </a:extLst>
              </p:cNvPr>
              <p:cNvSpPr txBox="1"/>
              <p:nvPr/>
            </p:nvSpPr>
            <p:spPr>
              <a:xfrm>
                <a:off x="10170099" y="899243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😈</a:t>
                </a:r>
              </a:p>
            </p:txBody>
          </p:sp>
          <p:pic>
            <p:nvPicPr>
              <p:cNvPr id="31" name="Picture 30" descr="A black and white photo of a coin&#10;&#10;Description automatically generated">
                <a:extLst>
                  <a:ext uri="{FF2B5EF4-FFF2-40B4-BE49-F238E27FC236}">
                    <a16:creationId xmlns:a16="http://schemas.microsoft.com/office/drawing/2014/main" id="{543D18AE-7D5C-DAE0-930F-68A842A7C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8513" y="2225695"/>
                <a:ext cx="335748" cy="335748"/>
              </a:xfrm>
              <a:prstGeom prst="rect">
                <a:avLst/>
              </a:prstGeom>
            </p:spPr>
          </p:pic>
        </p:grpSp>
        <p:pic>
          <p:nvPicPr>
            <p:cNvPr id="15" name="Picture 14" descr="A black and white photo of a coin&#10;&#10;Description automatically generated">
              <a:extLst>
                <a:ext uri="{FF2B5EF4-FFF2-40B4-BE49-F238E27FC236}">
                  <a16:creationId xmlns:a16="http://schemas.microsoft.com/office/drawing/2014/main" id="{F961660F-64D1-3948-A1B3-40180E799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1968" y="1153733"/>
              <a:ext cx="335748" cy="335748"/>
            </a:xfrm>
            <a:prstGeom prst="rect">
              <a:avLst/>
            </a:prstGeom>
          </p:spPr>
        </p:pic>
        <p:pic>
          <p:nvPicPr>
            <p:cNvPr id="16" name="Picture 15" descr="A black and white photo of a coin&#10;&#10;Description automatically generated">
              <a:extLst>
                <a:ext uri="{FF2B5EF4-FFF2-40B4-BE49-F238E27FC236}">
                  <a16:creationId xmlns:a16="http://schemas.microsoft.com/office/drawing/2014/main" id="{CB0DEE06-3AC9-023C-D225-9FBDB9924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40859" y="556010"/>
              <a:ext cx="335748" cy="335748"/>
            </a:xfrm>
            <a:prstGeom prst="rect">
              <a:avLst/>
            </a:prstGeom>
          </p:spPr>
        </p:pic>
        <p:pic>
          <p:nvPicPr>
            <p:cNvPr id="17" name="Picture 16" descr="A black and white photo of a coin&#10;&#10;Description automatically generated">
              <a:extLst>
                <a:ext uri="{FF2B5EF4-FFF2-40B4-BE49-F238E27FC236}">
                  <a16:creationId xmlns:a16="http://schemas.microsoft.com/office/drawing/2014/main" id="{ADEE7AB7-9417-2B35-C8B5-7B1F6FDEF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8018" y="2429508"/>
              <a:ext cx="335748" cy="335748"/>
            </a:xfrm>
            <a:prstGeom prst="rect">
              <a:avLst/>
            </a:prstGeom>
          </p:spPr>
        </p:pic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B47CEF58-CB0B-6BDC-2C39-D1FC95AA4D15}"/>
                </a:ext>
              </a:extLst>
            </p:cNvPr>
            <p:cNvSpPr/>
            <p:nvPr/>
          </p:nvSpPr>
          <p:spPr>
            <a:xfrm>
              <a:off x="9815348" y="1326931"/>
              <a:ext cx="890707" cy="767851"/>
            </a:xfrm>
            <a:prstGeom prst="hex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0142163-C188-3DCF-D056-B528158DFEAC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>
              <a:off x="10292255" y="940731"/>
              <a:ext cx="0" cy="284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BC6B860-9106-EA55-0C9B-C6E2BD04A1C9}"/>
                </a:ext>
              </a:extLst>
            </p:cNvPr>
            <p:cNvCxnSpPr>
              <a:cxnSpLocks/>
            </p:cNvCxnSpPr>
            <p:nvPr/>
          </p:nvCxnSpPr>
          <p:spPr>
            <a:xfrm>
              <a:off x="9448800" y="1321607"/>
              <a:ext cx="374786" cy="1543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4ABB2F3-2944-56BC-AAA6-52C7987ABC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5018" y="1897213"/>
              <a:ext cx="288568" cy="595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056121B-CE18-4280-7D5A-B0C022086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1958" y="2229719"/>
              <a:ext cx="85330" cy="5625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E30CE51-A049-E45E-CEFB-DA14DA0E47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03092" y="1956748"/>
              <a:ext cx="310462" cy="2575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14ECAF7-297A-D8A6-A213-FB46439CF6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9162" y="1377465"/>
              <a:ext cx="266730" cy="1120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8DDA30-4788-B01C-9EFC-0CC5736EE78A}"/>
                </a:ext>
              </a:extLst>
            </p:cNvPr>
            <p:cNvSpPr txBox="1"/>
            <p:nvPr/>
          </p:nvSpPr>
          <p:spPr>
            <a:xfrm>
              <a:off x="9436162" y="2866172"/>
              <a:ext cx="133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Heads/Tails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535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A6BC-F2F4-AAD4-D6A5-916FE3BC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coin flipping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F3B3F-3B96-14D9-93FE-2E2B2D24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D7CB2D-A609-D4DD-C492-3E4ABBCE6F72}"/>
              </a:ext>
            </a:extLst>
          </p:cNvPr>
          <p:cNvSpPr/>
          <p:nvPr/>
        </p:nvSpPr>
        <p:spPr>
          <a:xfrm>
            <a:off x="2285999" y="1884523"/>
            <a:ext cx="371578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Hypercontractivity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905440-BBC3-75A3-6426-5D15E33773AD}"/>
              </a:ext>
            </a:extLst>
          </p:cNvPr>
          <p:cNvSpPr/>
          <p:nvPr/>
        </p:nvSpPr>
        <p:spPr>
          <a:xfrm>
            <a:off x="2285997" y="3211375"/>
            <a:ext cx="371578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Friedgut’s</a:t>
            </a:r>
            <a:r>
              <a:rPr lang="en-US" sz="2000" dirty="0">
                <a:solidFill>
                  <a:schemeClr val="tx1"/>
                </a:solidFill>
              </a:rPr>
              <a:t> Junta Theorem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BCB27F-DCF6-9C3D-65B9-58C73FC89CAD}"/>
              </a:ext>
            </a:extLst>
          </p:cNvPr>
          <p:cNvSpPr/>
          <p:nvPr/>
        </p:nvSpPr>
        <p:spPr>
          <a:xfrm>
            <a:off x="2285997" y="4538228"/>
            <a:ext cx="371578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KKL Theorem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DB10D6-E209-FB65-FBF8-A7CD4051B36D}"/>
              </a:ext>
            </a:extLst>
          </p:cNvPr>
          <p:cNvSpPr/>
          <p:nvPr/>
        </p:nvSpPr>
        <p:spPr>
          <a:xfrm>
            <a:off x="2285996" y="5865081"/>
            <a:ext cx="371578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Limitations of Resilient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A1DA3A-F436-1E27-0812-0D814C7A40D9}"/>
                  </a:ext>
                </a:extLst>
              </p:cNvPr>
              <p:cNvSpPr txBox="1"/>
              <p:nvPr/>
            </p:nvSpPr>
            <p:spPr>
              <a:xfrm rot="5400000">
                <a:off x="3852714" y="2668201"/>
                <a:ext cx="7974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A1DA3A-F436-1E27-0812-0D814C7A4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852714" y="2668201"/>
                <a:ext cx="79744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BAE88A-D8CF-8958-D6AF-9411B20512F0}"/>
                  </a:ext>
                </a:extLst>
              </p:cNvPr>
              <p:cNvSpPr txBox="1"/>
              <p:nvPr/>
            </p:nvSpPr>
            <p:spPr>
              <a:xfrm rot="5400000">
                <a:off x="3852714" y="3958750"/>
                <a:ext cx="7974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BAE88A-D8CF-8958-D6AF-9411B2051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852714" y="3958750"/>
                <a:ext cx="7974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0ADC7B-75BD-D6FA-14BE-79AAD594B230}"/>
                  </a:ext>
                </a:extLst>
              </p:cNvPr>
              <p:cNvSpPr txBox="1"/>
              <p:nvPr/>
            </p:nvSpPr>
            <p:spPr>
              <a:xfrm rot="5400000">
                <a:off x="3852714" y="5285603"/>
                <a:ext cx="7974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0ADC7B-75BD-D6FA-14BE-79AAD594B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852714" y="5285603"/>
                <a:ext cx="79744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BE63BB5C-CB6C-8779-1EB2-F5762E6AFF1F}"/>
              </a:ext>
            </a:extLst>
          </p:cNvPr>
          <p:cNvSpPr/>
          <p:nvPr/>
        </p:nvSpPr>
        <p:spPr>
          <a:xfrm>
            <a:off x="6939454" y="4538228"/>
            <a:ext cx="371578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OSSS Inequality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93E7CF-EBD4-58E0-336C-27E80CE49F1D}"/>
              </a:ext>
            </a:extLst>
          </p:cNvPr>
          <p:cNvGrpSpPr/>
          <p:nvPr/>
        </p:nvGrpSpPr>
        <p:grpSpPr>
          <a:xfrm>
            <a:off x="8675660" y="171290"/>
            <a:ext cx="3291708" cy="3064214"/>
            <a:chOff x="8675660" y="171290"/>
            <a:chExt cx="3291708" cy="306421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97F6D89-ACB9-2C62-09B2-EAED1478D7D1}"/>
                </a:ext>
              </a:extLst>
            </p:cNvPr>
            <p:cNvGrpSpPr/>
            <p:nvPr/>
          </p:nvGrpSpPr>
          <p:grpSpPr>
            <a:xfrm>
              <a:off x="8675660" y="171290"/>
              <a:ext cx="3291708" cy="2620935"/>
              <a:chOff x="7832205" y="230188"/>
              <a:chExt cx="3291708" cy="2620935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DB34708-A14F-2F71-E56C-383AAC59B663}"/>
                  </a:ext>
                </a:extLst>
              </p:cNvPr>
              <p:cNvSpPr txBox="1"/>
              <p:nvPr/>
            </p:nvSpPr>
            <p:spPr>
              <a:xfrm>
                <a:off x="7832205" y="812854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5FFE827-20B9-A232-9794-C67B26F87A3D}"/>
                  </a:ext>
                </a:extLst>
              </p:cNvPr>
              <p:cNvSpPr txBox="1"/>
              <p:nvPr/>
            </p:nvSpPr>
            <p:spPr>
              <a:xfrm>
                <a:off x="7832205" y="1718965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4692C0A-6B9B-049F-92EF-B1EB5C434028}"/>
                  </a:ext>
                </a:extLst>
              </p:cNvPr>
              <p:cNvSpPr txBox="1"/>
              <p:nvPr/>
            </p:nvSpPr>
            <p:spPr>
              <a:xfrm>
                <a:off x="10001647" y="2081682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69700E4-5312-E5EA-54D0-BD03E47E60EC}"/>
                  </a:ext>
                </a:extLst>
              </p:cNvPr>
              <p:cNvSpPr txBox="1"/>
              <p:nvPr/>
            </p:nvSpPr>
            <p:spPr>
              <a:xfrm>
                <a:off x="8971893" y="230188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🙂</a:t>
                </a:r>
                <a:endParaRPr lang="en-US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1AD247D-3936-C3EA-8263-8BFE034DFA18}"/>
                  </a:ext>
                </a:extLst>
              </p:cNvPr>
              <p:cNvSpPr txBox="1"/>
              <p:nvPr/>
            </p:nvSpPr>
            <p:spPr>
              <a:xfrm>
                <a:off x="10170099" y="899243"/>
                <a:ext cx="95381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/>
                  <a:t>😈</a:t>
                </a:r>
              </a:p>
            </p:txBody>
          </p:sp>
          <p:pic>
            <p:nvPicPr>
              <p:cNvPr id="38" name="Picture 37" descr="A black and white photo of a coin&#10;&#10;Description automatically generated">
                <a:extLst>
                  <a:ext uri="{FF2B5EF4-FFF2-40B4-BE49-F238E27FC236}">
                    <a16:creationId xmlns:a16="http://schemas.microsoft.com/office/drawing/2014/main" id="{2CE84868-DD4C-7F30-3D0D-436F2E968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8513" y="2225695"/>
                <a:ext cx="335748" cy="335748"/>
              </a:xfrm>
              <a:prstGeom prst="rect">
                <a:avLst/>
              </a:prstGeom>
            </p:spPr>
          </p:pic>
        </p:grpSp>
        <p:pic>
          <p:nvPicPr>
            <p:cNvPr id="22" name="Picture 21" descr="A black and white photo of a coin&#10;&#10;Description automatically generated">
              <a:extLst>
                <a:ext uri="{FF2B5EF4-FFF2-40B4-BE49-F238E27FC236}">
                  <a16:creationId xmlns:a16="http://schemas.microsoft.com/office/drawing/2014/main" id="{8384013E-A8B0-CC7E-D0EB-BCBC5C9B2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1968" y="1153733"/>
              <a:ext cx="335748" cy="335748"/>
            </a:xfrm>
            <a:prstGeom prst="rect">
              <a:avLst/>
            </a:prstGeom>
          </p:spPr>
        </p:pic>
        <p:pic>
          <p:nvPicPr>
            <p:cNvPr id="23" name="Picture 22" descr="A black and white photo of a coin&#10;&#10;Description automatically generated">
              <a:extLst>
                <a:ext uri="{FF2B5EF4-FFF2-40B4-BE49-F238E27FC236}">
                  <a16:creationId xmlns:a16="http://schemas.microsoft.com/office/drawing/2014/main" id="{A02BA3B4-7ADE-4242-F2B8-485801392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40859" y="556010"/>
              <a:ext cx="335748" cy="335748"/>
            </a:xfrm>
            <a:prstGeom prst="rect">
              <a:avLst/>
            </a:prstGeom>
          </p:spPr>
        </p:pic>
        <p:pic>
          <p:nvPicPr>
            <p:cNvPr id="24" name="Picture 23" descr="A black and white photo of a coin&#10;&#10;Description automatically generated">
              <a:extLst>
                <a:ext uri="{FF2B5EF4-FFF2-40B4-BE49-F238E27FC236}">
                  <a16:creationId xmlns:a16="http://schemas.microsoft.com/office/drawing/2014/main" id="{7A9F3308-7B1D-FB48-02AF-64682C824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8018" y="2429508"/>
              <a:ext cx="335748" cy="335748"/>
            </a:xfrm>
            <a:prstGeom prst="rect">
              <a:avLst/>
            </a:prstGeom>
          </p:spPr>
        </p:pic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C1303C1A-8692-5F6E-2EAA-1FF54CDC5F2C}"/>
                </a:ext>
              </a:extLst>
            </p:cNvPr>
            <p:cNvSpPr/>
            <p:nvPr/>
          </p:nvSpPr>
          <p:spPr>
            <a:xfrm>
              <a:off x="9815348" y="1326931"/>
              <a:ext cx="890707" cy="767851"/>
            </a:xfrm>
            <a:prstGeom prst="hex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CA66776-CF46-C9BA-BB71-4302C8222FD6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>
              <a:off x="10292255" y="940731"/>
              <a:ext cx="0" cy="284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5B700B5-FA3C-3359-AEAB-0D06BB14EFF4}"/>
                </a:ext>
              </a:extLst>
            </p:cNvPr>
            <p:cNvCxnSpPr>
              <a:cxnSpLocks/>
            </p:cNvCxnSpPr>
            <p:nvPr/>
          </p:nvCxnSpPr>
          <p:spPr>
            <a:xfrm>
              <a:off x="9448800" y="1321607"/>
              <a:ext cx="374786" cy="1543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5A62B86-4872-54D5-CFE1-D3B5E241B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5018" y="1897213"/>
              <a:ext cx="288568" cy="595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687AABF-FB80-F672-FBF4-E314052D2F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1958" y="2229719"/>
              <a:ext cx="85330" cy="5625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A1302F9-2916-FF5B-EBD1-75DEE29583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03092" y="1956748"/>
              <a:ext cx="310462" cy="2575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83DF52A-FC23-FFE0-38CC-A96C9B537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9162" y="1377465"/>
              <a:ext cx="266730" cy="1120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D41254C-F8D4-5BBD-40D3-9B6707D947DF}"/>
                </a:ext>
              </a:extLst>
            </p:cNvPr>
            <p:cNvSpPr txBox="1"/>
            <p:nvPr/>
          </p:nvSpPr>
          <p:spPr>
            <a:xfrm>
              <a:off x="9436162" y="2866172"/>
              <a:ext cx="133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Heads/Tails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4084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346A-61D7-B07F-77BA-53E6689ED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Arrow’s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F70BDD-15F3-5A89-6059-8505E34AA1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7331" y="1825625"/>
                <a:ext cx="11027979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:{±1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→{±1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Arrow’s Theorem: </a:t>
                </a:r>
                <a:r>
                  <a:rPr lang="en-US" dirty="0"/>
                  <a:t>Assume that if we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to run pairwise elections, Condorcet’s paradox never occurs.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a dictator.</a:t>
                </a:r>
              </a:p>
              <a:p>
                <a:r>
                  <a:rPr lang="en-US" b="1" dirty="0"/>
                  <a:t>FKN Theorem: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dirty="0"/>
                  <a:t>-close to a dictator.</a:t>
                </a:r>
              </a:p>
              <a:p>
                <a:r>
                  <a:rPr lang="en-US" b="1" dirty="0"/>
                  <a:t>Robust Arrow’s Theorem:</a:t>
                </a:r>
                <a:r>
                  <a:rPr lang="en-US" dirty="0"/>
                  <a:t> Assume that if we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to run pairwise elections, Condorcet’s paradox </a:t>
                </a:r>
                <a:r>
                  <a:rPr lang="en-US" dirty="0">
                    <a:solidFill>
                      <a:schemeClr val="accent1"/>
                    </a:solidFill>
                  </a:rPr>
                  <a:t>rarely</a:t>
                </a:r>
                <a:r>
                  <a:rPr lang="en-US" dirty="0"/>
                  <a:t> occurs.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1"/>
                    </a:solidFill>
                  </a:rPr>
                  <a:t>close</a:t>
                </a:r>
                <a:r>
                  <a:rPr lang="en-US" dirty="0"/>
                  <a:t> to a dictator.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F70BDD-15F3-5A89-6059-8505E34AA1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7331" y="1825625"/>
                <a:ext cx="11027979" cy="4351338"/>
              </a:xfrm>
              <a:blipFill>
                <a:blip r:embed="rId2"/>
                <a:stretch>
                  <a:fillRect l="-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52458-B828-945C-4B85-81EEFC46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3543B-D7AB-B4D9-0D5A-4FFB0531CAAB}"/>
              </a:ext>
            </a:extLst>
          </p:cNvPr>
          <p:cNvSpPr txBox="1"/>
          <p:nvPr/>
        </p:nvSpPr>
        <p:spPr>
          <a:xfrm>
            <a:off x="9504636" y="681037"/>
            <a:ext cx="20436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/>
              <a:t>🗳️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093351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8FB8-CDAF-CE23-44B2-72B97C9AC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53C4BD-CCD9-FE8D-BCCB-ACAEF0F401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1490" y="2254468"/>
                <a:ext cx="10515600" cy="4236375"/>
              </a:xfrm>
            </p:spPr>
            <p:txBody>
              <a:bodyPr/>
              <a:lstStyle/>
              <a:p>
                <a:r>
                  <a:rPr lang="en-US" dirty="0"/>
                  <a:t>Suppose we have query access to unknown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:{±1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→{±1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Linearity Testing Theorem:</a:t>
                </a:r>
                <a:r>
                  <a:rPr lang="en-US" dirty="0"/>
                  <a:t> Using 3 queries, we can distinguish the case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from the case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far from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b="1" dirty="0"/>
                  <a:t>Dictator Testing Theorem:</a:t>
                </a:r>
                <a:r>
                  <a:rPr lang="en-US" dirty="0"/>
                  <a:t> Using 3 queries, we can distinguish the case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dirty="0"/>
                  <a:t> from the case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far from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53C4BD-CCD9-FE8D-BCCB-ACAEF0F401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1490" y="2254468"/>
                <a:ext cx="10515600" cy="423637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670DF-2EBB-19A6-4B1F-318E2765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22D5FB4-006A-EA89-99C6-CC4720BCD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0972" y="463310"/>
            <a:ext cx="1791157" cy="179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48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1667D-B3FB-2799-E95A-814DF884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ADE80-0CC6-1D44-0251-62CA2D59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F7FC1F-805C-EAC9-47BB-9E695A51C4E8}"/>
              </a:ext>
            </a:extLst>
          </p:cNvPr>
          <p:cNvSpPr/>
          <p:nvPr/>
        </p:nvSpPr>
        <p:spPr>
          <a:xfrm>
            <a:off x="3326119" y="368333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Spectral concentration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1FB5A0-7907-954E-424E-F84016DB1861}"/>
              </a:ext>
            </a:extLst>
          </p:cNvPr>
          <p:cNvSpPr/>
          <p:nvPr/>
        </p:nvSpPr>
        <p:spPr>
          <a:xfrm>
            <a:off x="1452574" y="5564637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Learnability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8D1EC-FDF1-2DFA-7727-3EF454FEFE5B}"/>
              </a:ext>
            </a:extLst>
          </p:cNvPr>
          <p:cNvSpPr/>
          <p:nvPr/>
        </p:nvSpPr>
        <p:spPr>
          <a:xfrm>
            <a:off x="7158903" y="424316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Fourier growth bound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0C91CD-6557-F232-DBD2-B22E6F264276}"/>
              </a:ext>
            </a:extLst>
          </p:cNvPr>
          <p:cNvSpPr/>
          <p:nvPr/>
        </p:nvSpPr>
        <p:spPr>
          <a:xfrm>
            <a:off x="8462143" y="5785925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B3428C-BCBA-3811-86A8-0A39AD250DDE}"/>
              </a:ext>
            </a:extLst>
          </p:cNvPr>
          <p:cNvSpPr/>
          <p:nvPr/>
        </p:nvSpPr>
        <p:spPr>
          <a:xfrm>
            <a:off x="3463993" y="1542982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influence bound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424AB-8718-4D19-2E53-B36C53BD443B}"/>
              </a:ext>
            </a:extLst>
          </p:cNvPr>
          <p:cNvSpPr/>
          <p:nvPr/>
        </p:nvSpPr>
        <p:spPr>
          <a:xfrm>
            <a:off x="5894192" y="383123"/>
            <a:ext cx="243522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Simplification under random restrictions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F347FA-BFC4-B99E-47C1-1E888793159F}"/>
              </a:ext>
            </a:extLst>
          </p:cNvPr>
          <p:cNvSpPr/>
          <p:nvPr/>
        </p:nvSpPr>
        <p:spPr>
          <a:xfrm>
            <a:off x="480688" y="2699572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Noise sensitivity bound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32B90C-F746-0F75-FCA7-5A4699C82944}"/>
              </a:ext>
            </a:extLst>
          </p:cNvPr>
          <p:cNvSpPr/>
          <p:nvPr/>
        </p:nvSpPr>
        <p:spPr>
          <a:xfrm>
            <a:off x="8997153" y="590928"/>
            <a:ext cx="1973314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Fourier 1-norm bound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E1EDB-5028-560B-63CB-9ACC93E92C1D}"/>
              </a:ext>
            </a:extLst>
          </p:cNvPr>
          <p:cNvSpPr/>
          <p:nvPr/>
        </p:nvSpPr>
        <p:spPr>
          <a:xfrm>
            <a:off x="890892" y="436602"/>
            <a:ext cx="2435227" cy="691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Monotonicity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CB18C5-216F-86A3-A306-7B660BFC8117}"/>
              </a:ext>
            </a:extLst>
          </p:cNvPr>
          <p:cNvCxnSpPr>
            <a:cxnSpLocks/>
          </p:cNvCxnSpPr>
          <p:nvPr/>
        </p:nvCxnSpPr>
        <p:spPr>
          <a:xfrm>
            <a:off x="2813717" y="1223112"/>
            <a:ext cx="480774" cy="3198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465E10-AE7D-72D8-9F32-F5B4D86576C2}"/>
              </a:ext>
            </a:extLst>
          </p:cNvPr>
          <p:cNvCxnSpPr>
            <a:cxnSpLocks/>
          </p:cNvCxnSpPr>
          <p:nvPr/>
        </p:nvCxnSpPr>
        <p:spPr>
          <a:xfrm flipH="1">
            <a:off x="2403835" y="2088588"/>
            <a:ext cx="890656" cy="5181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2403F5-D8F2-033A-A12C-1A720B8E06C5}"/>
              </a:ext>
            </a:extLst>
          </p:cNvPr>
          <p:cNvCxnSpPr>
            <a:cxnSpLocks/>
          </p:cNvCxnSpPr>
          <p:nvPr/>
        </p:nvCxnSpPr>
        <p:spPr>
          <a:xfrm flipH="1">
            <a:off x="4406887" y="2433462"/>
            <a:ext cx="99409" cy="1120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6FCF43-AF92-2304-BDC5-2E17BF32ACC9}"/>
              </a:ext>
            </a:extLst>
          </p:cNvPr>
          <p:cNvCxnSpPr>
            <a:cxnSpLocks/>
          </p:cNvCxnSpPr>
          <p:nvPr/>
        </p:nvCxnSpPr>
        <p:spPr>
          <a:xfrm>
            <a:off x="2585272" y="3227473"/>
            <a:ext cx="571923" cy="326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B75CAE-2271-A55B-C24F-627B580BB448}"/>
              </a:ext>
            </a:extLst>
          </p:cNvPr>
          <p:cNvCxnSpPr>
            <a:cxnSpLocks/>
          </p:cNvCxnSpPr>
          <p:nvPr/>
        </p:nvCxnSpPr>
        <p:spPr>
          <a:xfrm flipH="1">
            <a:off x="3022848" y="4545386"/>
            <a:ext cx="454100" cy="8307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8A07F4-97A5-6142-B2B5-4D1C7FB8D224}"/>
              </a:ext>
            </a:extLst>
          </p:cNvPr>
          <p:cNvCxnSpPr>
            <a:cxnSpLocks/>
          </p:cNvCxnSpPr>
          <p:nvPr/>
        </p:nvCxnSpPr>
        <p:spPr>
          <a:xfrm flipH="1">
            <a:off x="5597001" y="1201059"/>
            <a:ext cx="447907" cy="458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1468FFC-7A65-175E-40B3-5AEA91E04152}"/>
              </a:ext>
            </a:extLst>
          </p:cNvPr>
          <p:cNvCxnSpPr>
            <a:cxnSpLocks/>
          </p:cNvCxnSpPr>
          <p:nvPr/>
        </p:nvCxnSpPr>
        <p:spPr>
          <a:xfrm flipH="1">
            <a:off x="5459705" y="1213270"/>
            <a:ext cx="1432864" cy="2316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2DB6AD-EAB5-B893-38ED-8CF1BCF02F67}"/>
              </a:ext>
            </a:extLst>
          </p:cNvPr>
          <p:cNvCxnSpPr>
            <a:cxnSpLocks/>
          </p:cNvCxnSpPr>
          <p:nvPr/>
        </p:nvCxnSpPr>
        <p:spPr>
          <a:xfrm>
            <a:off x="5565767" y="4028893"/>
            <a:ext cx="1447775" cy="4394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B7DDCC3-3DE5-2C62-FFA7-F2FC8B64056A}"/>
              </a:ext>
            </a:extLst>
          </p:cNvPr>
          <p:cNvCxnSpPr>
            <a:cxnSpLocks/>
          </p:cNvCxnSpPr>
          <p:nvPr/>
        </p:nvCxnSpPr>
        <p:spPr>
          <a:xfrm>
            <a:off x="8559538" y="5148554"/>
            <a:ext cx="268073" cy="502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BE3F7F3-82B0-3BE6-762C-64C07423891F}"/>
              </a:ext>
            </a:extLst>
          </p:cNvPr>
          <p:cNvCxnSpPr>
            <a:cxnSpLocks/>
          </p:cNvCxnSpPr>
          <p:nvPr/>
        </p:nvCxnSpPr>
        <p:spPr>
          <a:xfrm>
            <a:off x="9726466" y="1571467"/>
            <a:ext cx="182714" cy="37172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C4A4163-0D4A-FB39-2C99-D9F589B2066F}"/>
              </a:ext>
            </a:extLst>
          </p:cNvPr>
          <p:cNvCxnSpPr>
            <a:cxnSpLocks/>
          </p:cNvCxnSpPr>
          <p:nvPr/>
        </p:nvCxnSpPr>
        <p:spPr>
          <a:xfrm flipH="1">
            <a:off x="5552415" y="1421075"/>
            <a:ext cx="3306820" cy="2368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71C268A-2104-0A83-31A2-724680FDB51F}"/>
              </a:ext>
            </a:extLst>
          </p:cNvPr>
          <p:cNvCxnSpPr>
            <a:cxnSpLocks/>
          </p:cNvCxnSpPr>
          <p:nvPr/>
        </p:nvCxnSpPr>
        <p:spPr>
          <a:xfrm>
            <a:off x="7387043" y="1282045"/>
            <a:ext cx="372757" cy="27533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-up of a magnifying glass&#10;&#10;AI-generated content may be incorrect.">
            <a:extLst>
              <a:ext uri="{FF2B5EF4-FFF2-40B4-BE49-F238E27FC236}">
                <a16:creationId xmlns:a16="http://schemas.microsoft.com/office/drawing/2014/main" id="{FF6342B6-FD97-DEC8-3A06-2C6EBC9D9B3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0163" y="2157288"/>
            <a:ext cx="2743200" cy="324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2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07407E-6 L 0.5487 0.2127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35" y="10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79452-1AFA-1B60-3273-5079CB1A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5C3D069-3636-F470-C1AB-43ADCDBB02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Fourier growth: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5C3D069-3636-F470-C1AB-43ADCDBB0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16210-DD15-C348-C29F-9B3CB4B7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47A7517-9A25-D309-F901-44F50A5713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7218486"/>
                  </p:ext>
                </p:extLst>
              </p:nvPr>
            </p:nvGraphicFramePr>
            <p:xfrm>
              <a:off x="449344" y="2131028"/>
              <a:ext cx="11293311" cy="1959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1744">
                      <a:extLst>
                        <a:ext uri="{9D8B030D-6E8A-4147-A177-3AD203B41FA5}">
                          <a16:colId xmlns:a16="http://schemas.microsoft.com/office/drawing/2014/main" val="3119739007"/>
                        </a:ext>
                      </a:extLst>
                    </a:gridCol>
                    <a:gridCol w="2545237">
                      <a:extLst>
                        <a:ext uri="{9D8B030D-6E8A-4147-A177-3AD203B41FA5}">
                          <a16:colId xmlns:a16="http://schemas.microsoft.com/office/drawing/2014/main" val="1059654172"/>
                        </a:ext>
                      </a:extLst>
                    </a:gridCol>
                    <a:gridCol w="4336330">
                      <a:extLst>
                        <a:ext uri="{9D8B030D-6E8A-4147-A177-3AD203B41FA5}">
                          <a16:colId xmlns:a16="http://schemas.microsoft.com/office/drawing/2014/main" val="10014235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Bound on</a:t>
                          </a:r>
                          <a:r>
                            <a:rPr lang="en-US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oMath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Proof technique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377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Size-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AC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2400" dirty="0"/>
                            <a:t> circuits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Random restrictions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88254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Width-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2400" dirty="0"/>
                            <a:t> regular oblivious ROBPs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Induction, local </a:t>
                          </a:r>
                          <a:r>
                            <a:rPr lang="en-US" sz="2400" dirty="0" err="1"/>
                            <a:t>monotonization</a:t>
                          </a:r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312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Depth-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US" sz="2400" dirty="0"/>
                            <a:t> decision trees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[multiple]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5470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47A7517-9A25-D309-F901-44F50A5713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7218486"/>
                  </p:ext>
                </p:extLst>
              </p:nvPr>
            </p:nvGraphicFramePr>
            <p:xfrm>
              <a:off x="449344" y="2131028"/>
              <a:ext cx="11293311" cy="19597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1744">
                      <a:extLst>
                        <a:ext uri="{9D8B030D-6E8A-4147-A177-3AD203B41FA5}">
                          <a16:colId xmlns:a16="http://schemas.microsoft.com/office/drawing/2014/main" val="3119739007"/>
                        </a:ext>
                      </a:extLst>
                    </a:gridCol>
                    <a:gridCol w="2545237">
                      <a:extLst>
                        <a:ext uri="{9D8B030D-6E8A-4147-A177-3AD203B41FA5}">
                          <a16:colId xmlns:a16="http://schemas.microsoft.com/office/drawing/2014/main" val="1059654172"/>
                        </a:ext>
                      </a:extLst>
                    </a:gridCol>
                    <a:gridCol w="4336330">
                      <a:extLst>
                        <a:ext uri="{9D8B030D-6E8A-4147-A177-3AD203B41FA5}">
                          <a16:colId xmlns:a16="http://schemas.microsoft.com/office/drawing/2014/main" val="1001423579"/>
                        </a:ext>
                      </a:extLst>
                    </a:gridCol>
                  </a:tblGrid>
                  <a:tr h="473266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3445" t="-8974" r="-171292" b="-3243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Proof technique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377492"/>
                      </a:ext>
                    </a:extLst>
                  </a:tr>
                  <a:tr h="4819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8" t="-107595" r="-156630" b="-2202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3445" t="-107595" r="-171292" b="-2202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Random restrictions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8825423"/>
                      </a:ext>
                    </a:extLst>
                  </a:tr>
                  <a:tr h="4636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8" t="-212987" r="-156630" b="-1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3445" t="-212987" r="-171292" b="-1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Induction, local </a:t>
                          </a:r>
                          <a:r>
                            <a:rPr lang="en-US" sz="2400" dirty="0" err="1"/>
                            <a:t>monotonization</a:t>
                          </a:r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312386"/>
                      </a:ext>
                    </a:extLst>
                  </a:tr>
                  <a:tr h="5408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8" t="-270787" r="-156630" b="-89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3445" t="-270787" r="-171292" b="-89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[multiple]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54700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10244-B88D-E1DA-F781-8DD88DCCD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31105"/>
            <a:ext cx="10515600" cy="1645857"/>
          </a:xfrm>
        </p:spPr>
        <p:txBody>
          <a:bodyPr/>
          <a:lstStyle/>
          <a:p>
            <a:r>
              <a:rPr lang="en-US" dirty="0"/>
              <a:t>Note: Fourier growth bounds do </a:t>
            </a:r>
            <a:r>
              <a:rPr lang="en-US" dirty="0">
                <a:solidFill>
                  <a:schemeClr val="accent1"/>
                </a:solidFill>
              </a:rPr>
              <a:t>not</a:t>
            </a:r>
            <a:r>
              <a:rPr lang="en-US" dirty="0"/>
              <a:t> imply spectral concentration</a:t>
            </a:r>
          </a:p>
          <a:p>
            <a:r>
              <a:rPr lang="en-US" dirty="0"/>
              <a:t>This can be a good thing!</a:t>
            </a:r>
          </a:p>
        </p:txBody>
      </p:sp>
    </p:spTree>
    <p:extLst>
      <p:ext uri="{BB962C8B-B14F-4D97-AF65-F5344CB8AC3E}">
        <p14:creationId xmlns:p14="http://schemas.microsoft.com/office/powerpoint/2010/main" val="1755318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6193777-AB02-C535-23DC-0EA86B46D5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Fourier growth bound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PRG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6193777-AB02-C535-23DC-0EA86B46D5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9F1CE-C5BB-8849-3E91-35A1978A4A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9675" y="1833001"/>
                <a:ext cx="7138145" cy="4657843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be a class of Boolean functions that is closed under restrictions</a:t>
                </a:r>
              </a:p>
              <a:p>
                <a:r>
                  <a:rPr lang="en-US" dirty="0"/>
                  <a:t>Assume that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and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b="1" dirty="0"/>
                  <a:t>Theorem: </a:t>
                </a:r>
                <a:r>
                  <a:rPr lang="en-US" dirty="0"/>
                  <a:t>Can fool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using a seed of length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lit/>
                                  </m:r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d>
                          </m:e>
                        </m:fun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lit/>
                                  </m:r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9F1CE-C5BB-8849-3E91-35A1978A4A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9675" y="1833001"/>
                <a:ext cx="7138145" cy="4657843"/>
              </a:xfrm>
              <a:blipFill>
                <a:blip r:embed="rId3"/>
                <a:stretch>
                  <a:fillRect l="-1537" r="-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54780-3B0E-7E85-48D4-0B0C373A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FF0E9C-EC8B-767E-08EC-86A717F90C0A}"/>
              </a:ext>
            </a:extLst>
          </p:cNvPr>
          <p:cNvGrpSpPr/>
          <p:nvPr/>
        </p:nvGrpSpPr>
        <p:grpSpPr>
          <a:xfrm>
            <a:off x="7704594" y="443010"/>
            <a:ext cx="4084203" cy="2951572"/>
            <a:chOff x="7879404" y="3531140"/>
            <a:chExt cx="4084203" cy="295157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2B5315-BA85-318C-BAAE-4BF65A97B6AC}"/>
                </a:ext>
              </a:extLst>
            </p:cNvPr>
            <p:cNvSpPr/>
            <p:nvPr/>
          </p:nvSpPr>
          <p:spPr>
            <a:xfrm>
              <a:off x="7879404" y="3531140"/>
              <a:ext cx="4084203" cy="29515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EE41103-7C36-EC22-EA4F-6C5576BDC103}"/>
                </a:ext>
              </a:extLst>
            </p:cNvPr>
            <p:cNvGrpSpPr/>
            <p:nvPr/>
          </p:nvGrpSpPr>
          <p:grpSpPr>
            <a:xfrm>
              <a:off x="8021155" y="3732536"/>
              <a:ext cx="3855106" cy="2538366"/>
              <a:chOff x="7447365" y="1305026"/>
              <a:chExt cx="4453280" cy="2932230"/>
            </a:xfrm>
          </p:grpSpPr>
          <p:pic>
            <p:nvPicPr>
              <p:cNvPr id="8" name="Picture 7" descr="An old photo of a person&#10;&#10;Description automatically generated">
                <a:extLst>
                  <a:ext uri="{FF2B5EF4-FFF2-40B4-BE49-F238E27FC236}">
                    <a16:creationId xmlns:a16="http://schemas.microsoft.com/office/drawing/2014/main" id="{D5168F96-EDA3-9C7A-CBD9-1B9E4E96E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61151" y="3677732"/>
                <a:ext cx="557825" cy="557825"/>
              </a:xfrm>
              <a:prstGeom prst="rect">
                <a:avLst/>
              </a:prstGeom>
            </p:spPr>
          </p:pic>
          <p:pic>
            <p:nvPicPr>
              <p:cNvPr id="9" name="Picture 8" descr="A coin next to a sign&#10;&#10;Description automatically generated">
                <a:extLst>
                  <a:ext uri="{FF2B5EF4-FFF2-40B4-BE49-F238E27FC236}">
                    <a16:creationId xmlns:a16="http://schemas.microsoft.com/office/drawing/2014/main" id="{3448EC9B-9493-547D-6D2A-D729E91161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05190" y="3670031"/>
                <a:ext cx="557825" cy="557825"/>
              </a:xfrm>
              <a:prstGeom prst="rect">
                <a:avLst/>
              </a:prstGeom>
            </p:spPr>
          </p:pic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87F86D40-31CD-FC81-97B8-DB58E9FF3049}"/>
                  </a:ext>
                </a:extLst>
              </p:cNvPr>
              <p:cNvCxnSpPr/>
              <p:nvPr/>
            </p:nvCxnSpPr>
            <p:spPr>
              <a:xfrm>
                <a:off x="8836334" y="1945238"/>
                <a:ext cx="0" cy="399477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165DB88-760F-9261-7D9E-AED995BE8D1D}"/>
                  </a:ext>
                </a:extLst>
              </p:cNvPr>
              <p:cNvCxnSpPr/>
              <p:nvPr/>
            </p:nvCxnSpPr>
            <p:spPr>
              <a:xfrm>
                <a:off x="9388469" y="1945238"/>
                <a:ext cx="0" cy="399477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CD9C6CA-3ED8-75A1-4F0E-BB163DD7EFE2}"/>
                  </a:ext>
                </a:extLst>
              </p:cNvPr>
              <p:cNvCxnSpPr/>
              <p:nvPr/>
            </p:nvCxnSpPr>
            <p:spPr>
              <a:xfrm>
                <a:off x="10486847" y="1945238"/>
                <a:ext cx="0" cy="399477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DAD7CB4-2852-7FB9-D8BD-7720F92D6621}"/>
                  </a:ext>
                </a:extLst>
              </p:cNvPr>
              <p:cNvCxnSpPr/>
              <p:nvPr/>
            </p:nvCxnSpPr>
            <p:spPr>
              <a:xfrm>
                <a:off x="9955681" y="1945238"/>
                <a:ext cx="0" cy="399477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Picture 13" descr="A black and white photo of a coin&#10;&#10;Description automatically generated">
                <a:extLst>
                  <a:ext uri="{FF2B5EF4-FFF2-40B4-BE49-F238E27FC236}">
                    <a16:creationId xmlns:a16="http://schemas.microsoft.com/office/drawing/2014/main" id="{A95DB851-7715-73CC-53BA-1792908CDF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57422" y="1305026"/>
                <a:ext cx="557826" cy="557826"/>
              </a:xfrm>
              <a:prstGeom prst="rect">
                <a:avLst/>
              </a:prstGeom>
            </p:spPr>
          </p:pic>
          <p:pic>
            <p:nvPicPr>
              <p:cNvPr id="15" name="Picture 14" descr="A black and white photo of a coin&#10;&#10;Description automatically generated">
                <a:extLst>
                  <a:ext uri="{FF2B5EF4-FFF2-40B4-BE49-F238E27FC236}">
                    <a16:creationId xmlns:a16="http://schemas.microsoft.com/office/drawing/2014/main" id="{7B34E955-963D-1468-8446-E6C0D216D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15247" y="1313628"/>
                <a:ext cx="557826" cy="557826"/>
              </a:xfrm>
              <a:prstGeom prst="rect">
                <a:avLst/>
              </a:prstGeom>
            </p:spPr>
          </p:pic>
          <p:pic>
            <p:nvPicPr>
              <p:cNvPr id="16" name="Picture 15" descr="A close up of a coin&#10;&#10;Description automatically generated">
                <a:extLst>
                  <a:ext uri="{FF2B5EF4-FFF2-40B4-BE49-F238E27FC236}">
                    <a16:creationId xmlns:a16="http://schemas.microsoft.com/office/drawing/2014/main" id="{5F8EC9B5-8424-D8CE-3052-BC7745C02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76769" y="1305026"/>
                <a:ext cx="557826" cy="557826"/>
              </a:xfrm>
              <a:prstGeom prst="rect">
                <a:avLst/>
              </a:prstGeom>
            </p:spPr>
          </p:pic>
          <p:pic>
            <p:nvPicPr>
              <p:cNvPr id="17" name="Picture 16" descr="A black and white photo of a coin&#10;&#10;Description automatically generated">
                <a:extLst>
                  <a:ext uri="{FF2B5EF4-FFF2-40B4-BE49-F238E27FC236}">
                    <a16:creationId xmlns:a16="http://schemas.microsoft.com/office/drawing/2014/main" id="{A5F55738-0A35-C3DA-E522-CED952A867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13423" y="1305026"/>
                <a:ext cx="557826" cy="557826"/>
              </a:xfrm>
              <a:prstGeom prst="rect">
                <a:avLst/>
              </a:prstGeom>
            </p:spPr>
          </p:pic>
          <p:pic>
            <p:nvPicPr>
              <p:cNvPr id="18" name="Picture 17" descr="An old photo of a person&#10;&#10;Description automatically generated">
                <a:extLst>
                  <a:ext uri="{FF2B5EF4-FFF2-40B4-BE49-F238E27FC236}">
                    <a16:creationId xmlns:a16="http://schemas.microsoft.com/office/drawing/2014/main" id="{C74FDD70-177A-31F6-F03A-122EAEFC3F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31925" y="3666260"/>
                <a:ext cx="557825" cy="557825"/>
              </a:xfrm>
              <a:prstGeom prst="rect">
                <a:avLst/>
              </a:prstGeom>
            </p:spPr>
          </p:pic>
          <p:pic>
            <p:nvPicPr>
              <p:cNvPr id="19" name="Picture 18" descr="A coin next to a sign&#10;&#10;Description automatically generated">
                <a:extLst>
                  <a:ext uri="{FF2B5EF4-FFF2-40B4-BE49-F238E27FC236}">
                    <a16:creationId xmlns:a16="http://schemas.microsoft.com/office/drawing/2014/main" id="{03C1C3F1-33AB-5FCB-E142-E8EE619BD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73073" y="3670031"/>
                <a:ext cx="557825" cy="557825"/>
              </a:xfrm>
              <a:prstGeom prst="rect">
                <a:avLst/>
              </a:prstGeom>
            </p:spPr>
          </p:pic>
          <p:pic>
            <p:nvPicPr>
              <p:cNvPr id="20" name="Picture 19" descr="An old photo of a person&#10;&#10;Description automatically generated">
                <a:extLst>
                  <a:ext uri="{FF2B5EF4-FFF2-40B4-BE49-F238E27FC236}">
                    <a16:creationId xmlns:a16="http://schemas.microsoft.com/office/drawing/2014/main" id="{7E22BE33-A8B0-EBA8-43C5-10B8C9FA29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29034" y="3667805"/>
                <a:ext cx="557825" cy="557825"/>
              </a:xfrm>
              <a:prstGeom prst="rect">
                <a:avLst/>
              </a:prstGeom>
            </p:spPr>
          </p:pic>
          <p:pic>
            <p:nvPicPr>
              <p:cNvPr id="21" name="Picture 20" descr="A coin next to a sign&#10;&#10;Description automatically generated">
                <a:extLst>
                  <a:ext uri="{FF2B5EF4-FFF2-40B4-BE49-F238E27FC236}">
                    <a16:creationId xmlns:a16="http://schemas.microsoft.com/office/drawing/2014/main" id="{11BBE05B-EEAE-FFFE-4E4F-C0E78062C9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93991" y="3665579"/>
                <a:ext cx="557825" cy="557825"/>
              </a:xfrm>
              <a:prstGeom prst="rect">
                <a:avLst/>
              </a:prstGeom>
            </p:spPr>
          </p:pic>
          <p:pic>
            <p:nvPicPr>
              <p:cNvPr id="22" name="Picture 21" descr="A coin next to a sign&#10;&#10;Description automatically generated">
                <a:extLst>
                  <a:ext uri="{FF2B5EF4-FFF2-40B4-BE49-F238E27FC236}">
                    <a16:creationId xmlns:a16="http://schemas.microsoft.com/office/drawing/2014/main" id="{31553EA8-ED7D-6410-6E75-EC2FBCAFC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342820" y="3677731"/>
                <a:ext cx="557825" cy="557825"/>
              </a:xfrm>
              <a:prstGeom prst="rect">
                <a:avLst/>
              </a:prstGeom>
            </p:spPr>
          </p:pic>
          <p:pic>
            <p:nvPicPr>
              <p:cNvPr id="23" name="Picture 22" descr="An old photo of a person&#10;&#10;Description automatically generated">
                <a:extLst>
                  <a:ext uri="{FF2B5EF4-FFF2-40B4-BE49-F238E27FC236}">
                    <a16:creationId xmlns:a16="http://schemas.microsoft.com/office/drawing/2014/main" id="{EC61C93C-1D83-72EB-D961-14E6D41B6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47365" y="3679431"/>
                <a:ext cx="557825" cy="557825"/>
              </a:xfrm>
              <a:prstGeom prst="rect">
                <a:avLst/>
              </a:prstGeom>
            </p:spPr>
          </p:pic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7D4559A6-F8F0-5E47-8B30-47F576FFA5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86988" y="3010473"/>
                <a:ext cx="246270" cy="618266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3DC390B-FC3E-68A6-200C-121B4CCB47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24376" y="2997562"/>
                <a:ext cx="161027" cy="627378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CFAAF598-E085-D22A-B7CE-EDFB17D7D1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57791" y="2997562"/>
                <a:ext cx="62787" cy="631177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1C03A33-2727-9607-1EEE-0027DC69C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1190" y="2997562"/>
                <a:ext cx="0" cy="614580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AFD3D7E-DE34-60F4-699A-B0EDFF0A1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42820" y="2997562"/>
                <a:ext cx="223367" cy="631177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2E78C5D-E57A-9F0E-C983-A01EEB8F8C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95103" y="3010473"/>
                <a:ext cx="134208" cy="618266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B49C042E-34E8-7155-8131-CC306FB2C6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7342" y="3010473"/>
                <a:ext cx="60186" cy="604152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F17136A1-2019-F008-4145-07E25F2426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31641" y="3010473"/>
                <a:ext cx="20344" cy="601669"/>
              </a:xfrm>
              <a:prstGeom prst="straightConnector1">
                <a:avLst/>
              </a:prstGeom>
              <a:ln w="60325"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AE1DD7A3-BB11-9B8A-D1B7-2A9BCB0363FE}"/>
                      </a:ext>
                    </a:extLst>
                  </p:cNvPr>
                  <p:cNvSpPr/>
                  <p:nvPr/>
                </p:nvSpPr>
                <p:spPr>
                  <a:xfrm>
                    <a:off x="7844272" y="2426919"/>
                    <a:ext cx="3657600" cy="636162"/>
                  </a:xfrm>
                  <a:custGeom>
                    <a:avLst/>
                    <a:gdLst>
                      <a:gd name="connsiteX0" fmla="*/ 1286539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34856 w 3657600"/>
                      <a:gd name="connsiteY3" fmla="*/ 10633 h 829339"/>
                      <a:gd name="connsiteX4" fmla="*/ 1286539 w 3657600"/>
                      <a:gd name="connsiteY4" fmla="*/ 0 h 829339"/>
                      <a:gd name="connsiteX0" fmla="*/ 1286539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24224 w 3657600"/>
                      <a:gd name="connsiteY3" fmla="*/ 1 h 829339"/>
                      <a:gd name="connsiteX4" fmla="*/ 1286539 w 3657600"/>
                      <a:gd name="connsiteY4" fmla="*/ 0 h 829339"/>
                      <a:gd name="connsiteX0" fmla="*/ 1190846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24224 w 3657600"/>
                      <a:gd name="connsiteY3" fmla="*/ 1 h 829339"/>
                      <a:gd name="connsiteX4" fmla="*/ 1190846 w 3657600"/>
                      <a:gd name="connsiteY4" fmla="*/ 0 h 829339"/>
                      <a:gd name="connsiteX0" fmla="*/ 1190846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98652 w 3657600"/>
                      <a:gd name="connsiteY3" fmla="*/ 1 h 829339"/>
                      <a:gd name="connsiteX4" fmla="*/ 1190846 w 3657600"/>
                      <a:gd name="connsiteY4" fmla="*/ 0 h 829339"/>
                      <a:gd name="connsiteX0" fmla="*/ 1031357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98652 w 3657600"/>
                      <a:gd name="connsiteY3" fmla="*/ 1 h 829339"/>
                      <a:gd name="connsiteX4" fmla="*/ 1031357 w 3657600"/>
                      <a:gd name="connsiteY4" fmla="*/ 0 h 829339"/>
                      <a:gd name="connsiteX0" fmla="*/ 1031357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604977 w 3657600"/>
                      <a:gd name="connsiteY3" fmla="*/ 10633 h 829339"/>
                      <a:gd name="connsiteX4" fmla="*/ 1031357 w 3657600"/>
                      <a:gd name="connsiteY4" fmla="*/ 0 h 829339"/>
                      <a:gd name="connsiteX0" fmla="*/ 1031357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817628 w 3657600"/>
                      <a:gd name="connsiteY3" fmla="*/ 10633 h 829339"/>
                      <a:gd name="connsiteX4" fmla="*/ 1031357 w 3657600"/>
                      <a:gd name="connsiteY4" fmla="*/ 0 h 829339"/>
                      <a:gd name="connsiteX0" fmla="*/ 861236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817628 w 3657600"/>
                      <a:gd name="connsiteY3" fmla="*/ 10633 h 829339"/>
                      <a:gd name="connsiteX4" fmla="*/ 861236 w 3657600"/>
                      <a:gd name="connsiteY4" fmla="*/ 0 h 8293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57600" h="829339">
                        <a:moveTo>
                          <a:pt x="861236" y="0"/>
                        </a:moveTo>
                        <a:lnTo>
                          <a:pt x="0" y="829339"/>
                        </a:lnTo>
                        <a:lnTo>
                          <a:pt x="3657600" y="829339"/>
                        </a:lnTo>
                        <a:lnTo>
                          <a:pt x="2817628" y="10633"/>
                        </a:lnTo>
                        <a:lnTo>
                          <a:pt x="861236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76" name="Freeform: Shape 275">
                    <a:extLst>
                      <a:ext uri="{FF2B5EF4-FFF2-40B4-BE49-F238E27FC236}">
                        <a16:creationId xmlns:a16="http://schemas.microsoft.com/office/drawing/2014/main" id="{379DB98E-3EF9-534C-BD3E-789D63E9518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4272" y="2426919"/>
                    <a:ext cx="3657600" cy="636162"/>
                  </a:xfrm>
                  <a:custGeom>
                    <a:avLst/>
                    <a:gdLst>
                      <a:gd name="connsiteX0" fmla="*/ 1286539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34856 w 3657600"/>
                      <a:gd name="connsiteY3" fmla="*/ 10633 h 829339"/>
                      <a:gd name="connsiteX4" fmla="*/ 1286539 w 3657600"/>
                      <a:gd name="connsiteY4" fmla="*/ 0 h 829339"/>
                      <a:gd name="connsiteX0" fmla="*/ 1286539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24224 w 3657600"/>
                      <a:gd name="connsiteY3" fmla="*/ 1 h 829339"/>
                      <a:gd name="connsiteX4" fmla="*/ 1286539 w 3657600"/>
                      <a:gd name="connsiteY4" fmla="*/ 0 h 829339"/>
                      <a:gd name="connsiteX0" fmla="*/ 1190846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24224 w 3657600"/>
                      <a:gd name="connsiteY3" fmla="*/ 1 h 829339"/>
                      <a:gd name="connsiteX4" fmla="*/ 1190846 w 3657600"/>
                      <a:gd name="connsiteY4" fmla="*/ 0 h 829339"/>
                      <a:gd name="connsiteX0" fmla="*/ 1190846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98652 w 3657600"/>
                      <a:gd name="connsiteY3" fmla="*/ 1 h 829339"/>
                      <a:gd name="connsiteX4" fmla="*/ 1190846 w 3657600"/>
                      <a:gd name="connsiteY4" fmla="*/ 0 h 829339"/>
                      <a:gd name="connsiteX0" fmla="*/ 1031357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498652 w 3657600"/>
                      <a:gd name="connsiteY3" fmla="*/ 1 h 829339"/>
                      <a:gd name="connsiteX4" fmla="*/ 1031357 w 3657600"/>
                      <a:gd name="connsiteY4" fmla="*/ 0 h 829339"/>
                      <a:gd name="connsiteX0" fmla="*/ 1031357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604977 w 3657600"/>
                      <a:gd name="connsiteY3" fmla="*/ 10633 h 829339"/>
                      <a:gd name="connsiteX4" fmla="*/ 1031357 w 3657600"/>
                      <a:gd name="connsiteY4" fmla="*/ 0 h 829339"/>
                      <a:gd name="connsiteX0" fmla="*/ 1031357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817628 w 3657600"/>
                      <a:gd name="connsiteY3" fmla="*/ 10633 h 829339"/>
                      <a:gd name="connsiteX4" fmla="*/ 1031357 w 3657600"/>
                      <a:gd name="connsiteY4" fmla="*/ 0 h 829339"/>
                      <a:gd name="connsiteX0" fmla="*/ 861236 w 3657600"/>
                      <a:gd name="connsiteY0" fmla="*/ 0 h 829339"/>
                      <a:gd name="connsiteX1" fmla="*/ 0 w 3657600"/>
                      <a:gd name="connsiteY1" fmla="*/ 829339 h 829339"/>
                      <a:gd name="connsiteX2" fmla="*/ 3657600 w 3657600"/>
                      <a:gd name="connsiteY2" fmla="*/ 829339 h 829339"/>
                      <a:gd name="connsiteX3" fmla="*/ 2817628 w 3657600"/>
                      <a:gd name="connsiteY3" fmla="*/ 10633 h 829339"/>
                      <a:gd name="connsiteX4" fmla="*/ 861236 w 3657600"/>
                      <a:gd name="connsiteY4" fmla="*/ 0 h 8293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57600" h="829339">
                        <a:moveTo>
                          <a:pt x="861236" y="0"/>
                        </a:moveTo>
                        <a:lnTo>
                          <a:pt x="0" y="829339"/>
                        </a:lnTo>
                        <a:lnTo>
                          <a:pt x="3657600" y="829339"/>
                        </a:lnTo>
                        <a:lnTo>
                          <a:pt x="2817628" y="10633"/>
                        </a:lnTo>
                        <a:lnTo>
                          <a:pt x="861236" y="0"/>
                        </a:lnTo>
                        <a:close/>
                      </a:path>
                    </a:pathLst>
                  </a:custGeom>
                  <a:blipFill>
                    <a:blip r:embed="rId27"/>
                    <a:stretch>
                      <a:fillRect/>
                    </a:stretch>
                  </a:blipFill>
                  <a:ln w="1905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36435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53E8-FE58-E26C-5AD1-1424F678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of the many topics we didn’t discuss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C35DC-E8BF-AC02-9FBA-C7B46BCB87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8191" y="2030599"/>
                <a:ext cx="11117842" cy="4146364"/>
              </a:xfrm>
            </p:spPr>
            <p:txBody>
              <a:bodyPr/>
              <a:lstStyle/>
              <a:p>
                <a:r>
                  <a:rPr lang="en-US" dirty="0"/>
                  <a:t>Gaussian space and the invariance principle</a:t>
                </a: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-biased Fourier analysis</a:t>
                </a:r>
              </a:p>
              <a:p>
                <a:r>
                  <a:rPr lang="en-US" dirty="0"/>
                  <a:t>Threshold phenomena</a:t>
                </a:r>
              </a:p>
              <a:p>
                <a:r>
                  <a:rPr lang="en-US" dirty="0"/>
                  <a:t>Expansion of noisy hypercube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C35DC-E8BF-AC02-9FBA-C7B46BCB87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8191" y="2030599"/>
                <a:ext cx="11117842" cy="4146364"/>
              </a:xfrm>
              <a:blipFill>
                <a:blip r:embed="rId2"/>
                <a:stretch>
                  <a:fillRect l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EE3C9-9943-5AA5-DAD2-7546B579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203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1D8EAC-56B1-E8B6-8915-C84E691144C8}"/>
              </a:ext>
            </a:extLst>
          </p:cNvPr>
          <p:cNvCxnSpPr>
            <a:cxnSpLocks/>
          </p:cNvCxnSpPr>
          <p:nvPr/>
        </p:nvCxnSpPr>
        <p:spPr>
          <a:xfrm>
            <a:off x="5194738" y="1492760"/>
            <a:ext cx="483805" cy="1181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39B29D-D8BB-8698-0C31-27EF79206912}"/>
              </a:ext>
            </a:extLst>
          </p:cNvPr>
          <p:cNvCxnSpPr>
            <a:cxnSpLocks/>
          </p:cNvCxnSpPr>
          <p:nvPr/>
        </p:nvCxnSpPr>
        <p:spPr>
          <a:xfrm>
            <a:off x="3594538" y="2529342"/>
            <a:ext cx="1325723" cy="508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B9D804-CD3F-EE3A-1C19-62CC06F194DE}"/>
              </a:ext>
            </a:extLst>
          </p:cNvPr>
          <p:cNvCxnSpPr>
            <a:cxnSpLocks/>
          </p:cNvCxnSpPr>
          <p:nvPr/>
        </p:nvCxnSpPr>
        <p:spPr>
          <a:xfrm flipH="1">
            <a:off x="6696995" y="1626566"/>
            <a:ext cx="952434" cy="9155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8CE48E-7EE9-E23D-44EB-DF4C6E27FB63}"/>
              </a:ext>
            </a:extLst>
          </p:cNvPr>
          <p:cNvCxnSpPr>
            <a:cxnSpLocks/>
          </p:cNvCxnSpPr>
          <p:nvPr/>
        </p:nvCxnSpPr>
        <p:spPr>
          <a:xfrm flipH="1">
            <a:off x="7271740" y="3057977"/>
            <a:ext cx="1487581" cy="572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C49845-5725-1D3F-568C-4618BF1CBB12}"/>
              </a:ext>
            </a:extLst>
          </p:cNvPr>
          <p:cNvCxnSpPr>
            <a:cxnSpLocks/>
          </p:cNvCxnSpPr>
          <p:nvPr/>
        </p:nvCxnSpPr>
        <p:spPr>
          <a:xfrm flipV="1">
            <a:off x="3491338" y="3537782"/>
            <a:ext cx="1156336" cy="416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8D43DB-43AF-5ABC-6A00-9102B427C82C}"/>
              </a:ext>
            </a:extLst>
          </p:cNvPr>
          <p:cNvCxnSpPr>
            <a:cxnSpLocks/>
          </p:cNvCxnSpPr>
          <p:nvPr/>
        </p:nvCxnSpPr>
        <p:spPr>
          <a:xfrm flipV="1">
            <a:off x="4418572" y="4236442"/>
            <a:ext cx="776166" cy="1142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3E2EC9-F1C4-1D07-5986-DA99EDB4EDB8}"/>
              </a:ext>
            </a:extLst>
          </p:cNvPr>
          <p:cNvCxnSpPr>
            <a:cxnSpLocks/>
          </p:cNvCxnSpPr>
          <p:nvPr/>
        </p:nvCxnSpPr>
        <p:spPr>
          <a:xfrm flipH="1" flipV="1">
            <a:off x="6287288" y="4302355"/>
            <a:ext cx="167893" cy="10768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5391C9B-3553-467F-F7EA-A6F0A6F93FCA}"/>
              </a:ext>
            </a:extLst>
          </p:cNvPr>
          <p:cNvCxnSpPr>
            <a:cxnSpLocks/>
          </p:cNvCxnSpPr>
          <p:nvPr/>
        </p:nvCxnSpPr>
        <p:spPr>
          <a:xfrm flipH="1" flipV="1">
            <a:off x="7253678" y="3846786"/>
            <a:ext cx="1266008" cy="993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BEC58-817A-2F2C-BBE8-0165081C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659B25-5B12-15A0-4C1E-D5E577AB7E01}"/>
              </a:ext>
            </a:extLst>
          </p:cNvPr>
          <p:cNvSpPr/>
          <p:nvPr/>
        </p:nvSpPr>
        <p:spPr>
          <a:xfrm>
            <a:off x="4461568" y="2333297"/>
            <a:ext cx="3132157" cy="209051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Analysis of Boolean Functions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3A4A05-33D6-801F-27CC-19DD606B5A45}"/>
              </a:ext>
            </a:extLst>
          </p:cNvPr>
          <p:cNvSpPr/>
          <p:nvPr/>
        </p:nvSpPr>
        <p:spPr>
          <a:xfrm>
            <a:off x="1842732" y="1507704"/>
            <a:ext cx="2034804" cy="14250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Pseudorandom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Generators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BB2FAB-2FA9-56A4-D573-D4F2CF84DCEC}"/>
              </a:ext>
            </a:extLst>
          </p:cNvPr>
          <p:cNvSpPr/>
          <p:nvPr/>
        </p:nvSpPr>
        <p:spPr>
          <a:xfrm>
            <a:off x="7014130" y="459032"/>
            <a:ext cx="2034804" cy="14250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Social Choice and Voting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4E24F6-8135-5833-528B-39BBA30385D7}"/>
              </a:ext>
            </a:extLst>
          </p:cNvPr>
          <p:cNvSpPr/>
          <p:nvPr/>
        </p:nvSpPr>
        <p:spPr>
          <a:xfrm>
            <a:off x="1760157" y="3378553"/>
            <a:ext cx="2034804" cy="14250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Cryptography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4DA292-BD9F-EB4A-D62E-063A8338905D}"/>
              </a:ext>
            </a:extLst>
          </p:cNvPr>
          <p:cNvSpPr/>
          <p:nvPr/>
        </p:nvSpPr>
        <p:spPr>
          <a:xfrm>
            <a:off x="8612177" y="2333297"/>
            <a:ext cx="2034804" cy="14250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Learning Theory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F0A12C-D054-5567-6337-4E8CFE96E086}"/>
              </a:ext>
            </a:extLst>
          </p:cNvPr>
          <p:cNvSpPr/>
          <p:nvPr/>
        </p:nvSpPr>
        <p:spPr>
          <a:xfrm>
            <a:off x="8139190" y="4412070"/>
            <a:ext cx="2034804" cy="14250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Neural Networks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211A60-B3C7-6362-9934-16B841E36DDD}"/>
              </a:ext>
            </a:extLst>
          </p:cNvPr>
          <p:cNvSpPr/>
          <p:nvPr/>
        </p:nvSpPr>
        <p:spPr>
          <a:xfrm>
            <a:off x="5558921" y="5199559"/>
            <a:ext cx="2034804" cy="14250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Circuit Complexity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EA46F96-068E-98CA-F881-C72442E692FD}"/>
              </a:ext>
            </a:extLst>
          </p:cNvPr>
          <p:cNvSpPr/>
          <p:nvPr/>
        </p:nvSpPr>
        <p:spPr>
          <a:xfrm>
            <a:off x="3049923" y="5126972"/>
            <a:ext cx="2034804" cy="14250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Distributed Computing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D19F6D-30F8-DBD2-37B0-FBD44AC49814}"/>
              </a:ext>
            </a:extLst>
          </p:cNvPr>
          <p:cNvSpPr/>
          <p:nvPr/>
        </p:nvSpPr>
        <p:spPr>
          <a:xfrm>
            <a:off x="4116297" y="293788"/>
            <a:ext cx="2034804" cy="14250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Property Testing</a:t>
            </a:r>
          </a:p>
        </p:txBody>
      </p:sp>
    </p:spTree>
    <p:extLst>
      <p:ext uri="{BB962C8B-B14F-4D97-AF65-F5344CB8AC3E}">
        <p14:creationId xmlns:p14="http://schemas.microsoft.com/office/powerpoint/2010/main" val="1078073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ED7C-454A-C48B-A5C1-804EC0E5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C7F68-AD49-B619-14D6-A772DF177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1" y="1797269"/>
            <a:ext cx="10876547" cy="48936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Being your instructor has been a privilege</a:t>
            </a:r>
          </a:p>
          <a:p>
            <a:pPr>
              <a:lnSpc>
                <a:spcPct val="150000"/>
              </a:lnSpc>
            </a:pPr>
            <a:r>
              <a:rPr lang="en-US" dirty="0"/>
              <a:t>I look forward to reading your expositions</a:t>
            </a:r>
          </a:p>
          <a:p>
            <a:pPr>
              <a:lnSpc>
                <a:spcPct val="150000"/>
              </a:lnSpc>
            </a:pPr>
            <a:r>
              <a:rPr lang="en-US" dirty="0"/>
              <a:t>Please fill out the Graduate Course Feedback Form using </a:t>
            </a:r>
            <a:r>
              <a:rPr lang="en-US" dirty="0" err="1"/>
              <a:t>My.UChicago</a:t>
            </a:r>
            <a:r>
              <a:rPr lang="en-US" dirty="0"/>
              <a:t> (deadline is Sunday, December 14)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8D232-8FCE-FB02-92BE-8224BCE13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64C6E4-28C9-65C6-8CFA-D0F3DCFC9253}"/>
              </a:ext>
            </a:extLst>
          </p:cNvPr>
          <p:cNvGrpSpPr/>
          <p:nvPr/>
        </p:nvGrpSpPr>
        <p:grpSpPr>
          <a:xfrm>
            <a:off x="7713627" y="473455"/>
            <a:ext cx="3852732" cy="2447068"/>
            <a:chOff x="7583216" y="567559"/>
            <a:chExt cx="3852732" cy="244706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A57D059-FE06-1A61-7723-C2C9AEF3F881}"/>
                </a:ext>
              </a:extLst>
            </p:cNvPr>
            <p:cNvSpPr/>
            <p:nvPr/>
          </p:nvSpPr>
          <p:spPr>
            <a:xfrm>
              <a:off x="7583216" y="567559"/>
              <a:ext cx="3852732" cy="244706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AE3A071-999E-8BDC-FC4B-D401C76E2005}"/>
                </a:ext>
              </a:extLst>
            </p:cNvPr>
            <p:cNvSpPr txBox="1"/>
            <p:nvPr/>
          </p:nvSpPr>
          <p:spPr>
            <a:xfrm>
              <a:off x="8104789" y="1412548"/>
              <a:ext cx="26880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Edwardian Script ITC" panose="030303020407070D0804" pitchFamily="66" charset="0"/>
                </a:rPr>
                <a:t>The End</a:t>
              </a:r>
            </a:p>
          </p:txBody>
        </p:sp>
        <p:pic>
          <p:nvPicPr>
            <p:cNvPr id="15" name="Picture 14" descr="A blue border on a black background&#10;&#10;AI-generated content may be incorrect.">
              <a:extLst>
                <a:ext uri="{FF2B5EF4-FFF2-40B4-BE49-F238E27FC236}">
                  <a16:creationId xmlns:a16="http://schemas.microsoft.com/office/drawing/2014/main" id="{3E1622A4-218D-D820-47D7-7B32F8400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6385" y="975474"/>
              <a:ext cx="3066393" cy="16435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970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99814</TotalTime>
  <Words>1168</Words>
  <Application>Microsoft Office PowerPoint</Application>
  <PresentationFormat>Widescreen</PresentationFormat>
  <Paragraphs>256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Courier New</vt:lpstr>
      <vt:lpstr>Edwardian Script ITC</vt:lpstr>
      <vt:lpstr>Office Theme</vt:lpstr>
      <vt:lpstr>Analysis of Boolean Functions Autumn 2025 Course Summary &amp; Review</vt:lpstr>
      <vt:lpstr>Fourier expansion</vt:lpstr>
      <vt:lpstr>Inner product space of functions</vt:lpstr>
      <vt:lpstr>Interpreting the Fourier spectrum</vt:lpstr>
      <vt:lpstr>Complexity measures</vt:lpstr>
      <vt:lpstr>PowerPoint Presentation</vt:lpstr>
      <vt:lpstr>Fourier 1-norm: ‖ ̂f‖ ̂_1=∑_S▒|f ̂(S)| </vt:lpstr>
      <vt:lpstr>Concentration ⇒ Learnability</vt:lpstr>
      <vt:lpstr>PowerPoint Presentation</vt:lpstr>
      <vt:lpstr>"I" [f]=∑_(i=1)^n▒〖〖"Inf" 〗_i [f] 〗=E_x [〖"sens" 〗_f (x)]=E_(S∼S_f ) [|S|] </vt:lpstr>
      <vt:lpstr>PowerPoint Presentation</vt:lpstr>
      <vt:lpstr>Noise sensitivity</vt:lpstr>
      <vt:lpstr>Hypercontractivity</vt:lpstr>
      <vt:lpstr>Friedgut’s junta theorem</vt:lpstr>
      <vt:lpstr>Collective coin flipping</vt:lpstr>
      <vt:lpstr>Collective coin flipping</vt:lpstr>
      <vt:lpstr>Collective coin flipping</vt:lpstr>
      <vt:lpstr>Arrow’s theorem</vt:lpstr>
      <vt:lpstr>Property testing</vt:lpstr>
      <vt:lpstr>PowerPoint Presentation</vt:lpstr>
      <vt:lpstr>Fourier growth: L_(1,k) (f)=∑_(|S|=k)▒|f ̂(S)| </vt:lpstr>
      <vt:lpstr>Fourier growth bound ⇒ PRG</vt:lpstr>
      <vt:lpstr>A few of the many topics we didn’t discuss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AOBF Course Summary &amp; Review</dc:title>
  <dc:creator>William Hoza</dc:creator>
  <cp:lastModifiedBy>William Hoza</cp:lastModifiedBy>
  <cp:revision>352</cp:revision>
  <dcterms:created xsi:type="dcterms:W3CDTF">2022-12-12T23:26:37Z</dcterms:created>
  <dcterms:modified xsi:type="dcterms:W3CDTF">2025-12-04T18:15:34Z</dcterms:modified>
</cp:coreProperties>
</file>